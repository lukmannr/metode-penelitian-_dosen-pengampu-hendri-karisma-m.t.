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nter Bold" charset="1" panose="02000503000000020004"/>
      <p:regular r:id="rId24"/>
    </p:embeddedFont>
    <p:embeddedFont>
      <p:font typeface="Inter Medium" charset="1" panose="02000503000000020004"/>
      <p:regular r:id="rId25"/>
    </p:embeddedFont>
    <p:embeddedFont>
      <p:font typeface="Inter" charset="1" panose="02000503000000020004"/>
      <p:regular r:id="rId26"/>
    </p:embeddedFont>
    <p:embeddedFont>
      <p:font typeface="Futura Display" charset="1" panose="020B0504050904050C04"/>
      <p:regular r:id="rId27"/>
    </p:embeddedFont>
    <p:embeddedFont>
      <p:font typeface="Inter Italics" charset="1" panose="02000503000000020004"/>
      <p:regular r:id="rId28"/>
    </p:embeddedFont>
    <p:embeddedFont>
      <p:font typeface="Courier New" charset="1" panose="02070309020205020404"/>
      <p:regular r:id="rId29"/>
    </p:embeddedFont>
    <p:embeddedFont>
      <p:font typeface="TT Supermolot Neue Bold" charset="1" panose="020008030300000200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2" Target="../media/image30.jpe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42.png" Type="http://schemas.openxmlformats.org/officeDocument/2006/relationships/image"/><Relationship Id="rId14" Target="../media/image43.svg" Type="http://schemas.openxmlformats.org/officeDocument/2006/relationships/image"/><Relationship Id="rId2" Target="../media/image35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51.png" Type="http://schemas.openxmlformats.org/officeDocument/2006/relationships/image"/><Relationship Id="rId14" Target="../media/image52.svg" Type="http://schemas.openxmlformats.org/officeDocument/2006/relationships/image"/><Relationship Id="rId15" Target="../media/image53.png" Type="http://schemas.openxmlformats.org/officeDocument/2006/relationships/image"/><Relationship Id="rId16" Target="../media/image54.svg" Type="http://schemas.openxmlformats.org/officeDocument/2006/relationships/image"/><Relationship Id="rId2" Target="../media/image44.jpeg" Type="http://schemas.openxmlformats.org/officeDocument/2006/relationships/image"/><Relationship Id="rId3" Target="../media/image45.jpe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2" Target="../media/image55.jpeg" Type="http://schemas.openxmlformats.org/officeDocument/2006/relationships/image"/><Relationship Id="rId3" Target="../media/image45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4.png" Type="http://schemas.openxmlformats.org/officeDocument/2006/relationships/image"/><Relationship Id="rId14" Target="../media/image5.svg" Type="http://schemas.openxmlformats.org/officeDocument/2006/relationships/image"/><Relationship Id="rId15" Target="../media/image6.png" Type="http://schemas.openxmlformats.org/officeDocument/2006/relationships/image"/><Relationship Id="rId16" Target="../media/image7.svg" Type="http://schemas.openxmlformats.org/officeDocument/2006/relationships/image"/><Relationship Id="rId17" Target="../media/image53.png" Type="http://schemas.openxmlformats.org/officeDocument/2006/relationships/image"/><Relationship Id="rId18" Target="../media/image54.svg" Type="http://schemas.openxmlformats.org/officeDocument/2006/relationships/image"/><Relationship Id="rId2" Target="../media/image60.jpe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2" Target="../media/image71.jpeg" Type="http://schemas.openxmlformats.org/officeDocument/2006/relationships/image"/><Relationship Id="rId3" Target="../media/image45.jpe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2" Target="../media/image76.jpeg" Type="http://schemas.openxmlformats.org/officeDocument/2006/relationships/image"/><Relationship Id="rId3" Target="../media/image77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6.png" Type="http://schemas.openxmlformats.org/officeDocument/2006/relationships/image"/><Relationship Id="rId13" Target="../media/image7.svg" Type="http://schemas.openxmlformats.org/officeDocument/2006/relationships/image"/><Relationship Id="rId2" Target="../media/image82.jpeg" Type="http://schemas.openxmlformats.org/officeDocument/2006/relationships/image"/><Relationship Id="rId3" Target="../media/image83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jpeg" Type="http://schemas.openxmlformats.org/officeDocument/2006/relationships/image"/><Relationship Id="rId3" Target="../media/image91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jpeg" Type="http://schemas.openxmlformats.org/officeDocument/2006/relationships/image"/><Relationship Id="rId3" Target="../media/image25.png" Type="http://schemas.openxmlformats.org/officeDocument/2006/relationships/image"/><Relationship Id="rId4" Target="../media/image9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49.png" Type="http://schemas.openxmlformats.org/officeDocument/2006/relationships/image"/><Relationship Id="rId14" Target="../media/image50.svg" Type="http://schemas.openxmlformats.org/officeDocument/2006/relationships/image"/><Relationship Id="rId2" Target="../media/image94.jpe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2" Target="../media/image94.jpeg" Type="http://schemas.openxmlformats.org/officeDocument/2006/relationships/image"/><Relationship Id="rId3" Target="../media/image101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jpeg" Type="http://schemas.openxmlformats.org/officeDocument/2006/relationships/image"/><Relationship Id="rId3" Target="../media/image10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109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575" y="28575"/>
            <a:ext cx="18230850" cy="10229850"/>
            <a:chOff x="0" y="0"/>
            <a:chExt cx="24307800" cy="136398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07800" cy="13639800"/>
            </a:xfrm>
            <a:custGeom>
              <a:avLst/>
              <a:gdLst/>
              <a:ahLst/>
              <a:cxnLst/>
              <a:rect r="r" b="b" t="t" l="l"/>
              <a:pathLst>
                <a:path h="13639800" w="24307800">
                  <a:moveTo>
                    <a:pt x="0" y="0"/>
                  </a:moveTo>
                  <a:lnTo>
                    <a:pt x="24307800" y="0"/>
                  </a:lnTo>
                  <a:lnTo>
                    <a:pt x="24307800" y="13639800"/>
                  </a:lnTo>
                  <a:lnTo>
                    <a:pt x="0" y="1363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87175" y="714375"/>
            <a:ext cx="6000750" cy="6000750"/>
            <a:chOff x="0" y="0"/>
            <a:chExt cx="8001000" cy="8001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0010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999"/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01010" y="3227394"/>
            <a:ext cx="15716250" cy="2109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b="true" sz="6600" spc="4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EVALUASI CELAH KEAMANAN WEBSITE PONDOK PESANTREN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75" y="6025201"/>
            <a:ext cx="18230850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400" b="true">
                <a:solidFill>
                  <a:srgbClr val="FFD700"/>
                </a:solidFill>
                <a:latin typeface="Inter Medium"/>
                <a:ea typeface="Inter Medium"/>
                <a:cs typeface="Inter Medium"/>
                <a:sym typeface="Inter Medium"/>
              </a:rPr>
              <a:t>Metode Automated Scanning dan Metrik CVSS V3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75" y="6968166"/>
            <a:ext cx="7203024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Lukman Nur Rahman (241552010007)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31649" y="7063426"/>
            <a:ext cx="4923720" cy="77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Teknik Informatika, STMIK Tazkia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55410" y="7096754"/>
            <a:ext cx="5303901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Dosen Pengampu: Hendri Karisma, M.T.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890818" y="-1526465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216098">
            <a:off x="1106442" y="-5483964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8766981" y="1716425"/>
            <a:ext cx="9492329" cy="2260900"/>
          </a:xfrm>
          <a:custGeom>
            <a:avLst/>
            <a:gdLst/>
            <a:ahLst/>
            <a:cxnLst/>
            <a:rect r="r" b="b" t="t" l="l"/>
            <a:pathLst>
              <a:path h="2260900" w="9492329">
                <a:moveTo>
                  <a:pt x="9492330" y="0"/>
                </a:moveTo>
                <a:lnTo>
                  <a:pt x="0" y="0"/>
                </a:lnTo>
                <a:lnTo>
                  <a:pt x="0" y="2260901"/>
                </a:lnTo>
                <a:lnTo>
                  <a:pt x="9492330" y="2260901"/>
                </a:lnTo>
                <a:lnTo>
                  <a:pt x="949233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923062" y="9422284"/>
            <a:ext cx="64418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F0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Lukman Nur Rahman | STMIK Tazkia | 2025/2026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694280" y="7961440"/>
            <a:ext cx="2593720" cy="2593720"/>
          </a:xfrm>
          <a:custGeom>
            <a:avLst/>
            <a:gdLst/>
            <a:ahLst/>
            <a:cxnLst/>
            <a:rect r="r" b="b" t="t" l="l"/>
            <a:pathLst>
              <a:path h="2593720" w="2593720">
                <a:moveTo>
                  <a:pt x="0" y="0"/>
                </a:moveTo>
                <a:lnTo>
                  <a:pt x="2593720" y="0"/>
                </a:lnTo>
                <a:lnTo>
                  <a:pt x="2593720" y="2593720"/>
                </a:lnTo>
                <a:lnTo>
                  <a:pt x="0" y="2593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26083" y="1367218"/>
            <a:ext cx="799338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9"/>
              </a:lnSpc>
            </a:pPr>
            <a:r>
              <a:rPr lang="en-US" sz="5899" spc="4">
                <a:solidFill>
                  <a:srgbClr val="00F0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APA SAJA DIDALAM SLIDE INI?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457398" y="3748934"/>
            <a:ext cx="789813" cy="789813"/>
            <a:chOff x="0" y="0"/>
            <a:chExt cx="1053084" cy="10530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3084" cy="1053084"/>
            </a:xfrm>
            <a:custGeom>
              <a:avLst/>
              <a:gdLst/>
              <a:ahLst/>
              <a:cxnLst/>
              <a:rect r="r" b="b" t="t" l="l"/>
              <a:pathLst>
                <a:path h="1053084" w="1053084">
                  <a:moveTo>
                    <a:pt x="0" y="0"/>
                  </a:moveTo>
                  <a:lnTo>
                    <a:pt x="1053084" y="0"/>
                  </a:lnTo>
                  <a:lnTo>
                    <a:pt x="1053084" y="1053084"/>
                  </a:lnTo>
                  <a:lnTo>
                    <a:pt x="0" y="1053084"/>
                  </a:lnTo>
                  <a:close/>
                </a:path>
              </a:pathLst>
            </a:custGeom>
            <a:solidFill>
              <a:srgbClr val="FFD700">
                <a:alpha val="784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623704" y="3915241"/>
            <a:ext cx="457200" cy="457200"/>
            <a:chOff x="0" y="0"/>
            <a:chExt cx="609600" cy="6096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466667" y="3904525"/>
            <a:ext cx="4566199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Pendahuluan &amp; Masalah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558410" y="3748934"/>
            <a:ext cx="789813" cy="789813"/>
            <a:chOff x="0" y="0"/>
            <a:chExt cx="1053084" cy="10530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3084" cy="1053084"/>
            </a:xfrm>
            <a:custGeom>
              <a:avLst/>
              <a:gdLst/>
              <a:ahLst/>
              <a:cxnLst/>
              <a:rect r="r" b="b" t="t" l="l"/>
              <a:pathLst>
                <a:path h="1053084" w="1053084">
                  <a:moveTo>
                    <a:pt x="0" y="0"/>
                  </a:moveTo>
                  <a:lnTo>
                    <a:pt x="1053084" y="0"/>
                  </a:lnTo>
                  <a:lnTo>
                    <a:pt x="1053084" y="1053084"/>
                  </a:lnTo>
                  <a:lnTo>
                    <a:pt x="0" y="1053084"/>
                  </a:lnTo>
                  <a:close/>
                </a:path>
              </a:pathLst>
            </a:custGeom>
            <a:solidFill>
              <a:srgbClr val="FFD700">
                <a:alpha val="784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724717" y="3915241"/>
            <a:ext cx="457200" cy="457200"/>
            <a:chOff x="0" y="0"/>
            <a:chExt cx="609600" cy="6096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567679" y="3904525"/>
            <a:ext cx="3292154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Tujuan &amp; Manfaat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457398" y="5034809"/>
            <a:ext cx="789813" cy="789813"/>
            <a:chOff x="0" y="0"/>
            <a:chExt cx="1053084" cy="10530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3084" cy="1053084"/>
            </a:xfrm>
            <a:custGeom>
              <a:avLst/>
              <a:gdLst/>
              <a:ahLst/>
              <a:cxnLst/>
              <a:rect r="r" b="b" t="t" l="l"/>
              <a:pathLst>
                <a:path h="1053084" w="1053084">
                  <a:moveTo>
                    <a:pt x="0" y="0"/>
                  </a:moveTo>
                  <a:lnTo>
                    <a:pt x="1053084" y="0"/>
                  </a:lnTo>
                  <a:lnTo>
                    <a:pt x="1053084" y="1053084"/>
                  </a:lnTo>
                  <a:lnTo>
                    <a:pt x="0" y="1053084"/>
                  </a:lnTo>
                  <a:close/>
                </a:path>
              </a:pathLst>
            </a:custGeom>
            <a:solidFill>
              <a:srgbClr val="FFD700">
                <a:alpha val="784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623704" y="5201116"/>
            <a:ext cx="457200" cy="457200"/>
            <a:chOff x="0" y="0"/>
            <a:chExt cx="609600" cy="6096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466667" y="5190400"/>
            <a:ext cx="4323864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Research Gap &amp; SOTA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558410" y="5034809"/>
            <a:ext cx="789813" cy="789813"/>
            <a:chOff x="0" y="0"/>
            <a:chExt cx="1053084" cy="1053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3084" cy="1053084"/>
            </a:xfrm>
            <a:custGeom>
              <a:avLst/>
              <a:gdLst/>
              <a:ahLst/>
              <a:cxnLst/>
              <a:rect r="r" b="b" t="t" l="l"/>
              <a:pathLst>
                <a:path h="1053084" w="1053084">
                  <a:moveTo>
                    <a:pt x="0" y="0"/>
                  </a:moveTo>
                  <a:lnTo>
                    <a:pt x="1053084" y="0"/>
                  </a:lnTo>
                  <a:lnTo>
                    <a:pt x="1053084" y="1053084"/>
                  </a:lnTo>
                  <a:lnTo>
                    <a:pt x="0" y="1053084"/>
                  </a:lnTo>
                  <a:close/>
                </a:path>
              </a:pathLst>
            </a:custGeom>
            <a:solidFill>
              <a:srgbClr val="FFD700">
                <a:alpha val="784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753292" y="5201116"/>
            <a:ext cx="400050" cy="457200"/>
            <a:chOff x="0" y="0"/>
            <a:chExt cx="533400" cy="6096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567679" y="5190400"/>
            <a:ext cx="2857948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Landasan Teori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457398" y="6320684"/>
            <a:ext cx="789813" cy="789813"/>
            <a:chOff x="0" y="0"/>
            <a:chExt cx="1053084" cy="10530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3084" cy="1053084"/>
            </a:xfrm>
            <a:custGeom>
              <a:avLst/>
              <a:gdLst/>
              <a:ahLst/>
              <a:cxnLst/>
              <a:rect r="r" b="b" t="t" l="l"/>
              <a:pathLst>
                <a:path h="1053084" w="1053084">
                  <a:moveTo>
                    <a:pt x="0" y="0"/>
                  </a:moveTo>
                  <a:lnTo>
                    <a:pt x="1053084" y="0"/>
                  </a:lnTo>
                  <a:lnTo>
                    <a:pt x="1053084" y="1053084"/>
                  </a:lnTo>
                  <a:lnTo>
                    <a:pt x="0" y="1053084"/>
                  </a:lnTo>
                  <a:close/>
                </a:path>
              </a:pathLst>
            </a:custGeom>
            <a:solidFill>
              <a:srgbClr val="FFD700">
                <a:alpha val="784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2595129" y="6486991"/>
            <a:ext cx="514350" cy="457200"/>
            <a:chOff x="0" y="0"/>
            <a:chExt cx="685800" cy="6096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685800" cy="609600"/>
            </a:xfrm>
            <a:custGeom>
              <a:avLst/>
              <a:gdLst/>
              <a:ahLst/>
              <a:cxnLst/>
              <a:rect r="r" b="b" t="t" l="l"/>
              <a:pathLst>
                <a:path h="6096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466667" y="6476275"/>
            <a:ext cx="4006748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Metodologi Penelitian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558410" y="6320684"/>
            <a:ext cx="789813" cy="789813"/>
            <a:chOff x="0" y="0"/>
            <a:chExt cx="1053084" cy="10530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3084" cy="1053084"/>
            </a:xfrm>
            <a:custGeom>
              <a:avLst/>
              <a:gdLst/>
              <a:ahLst/>
              <a:cxnLst/>
              <a:rect r="r" b="b" t="t" l="l"/>
              <a:pathLst>
                <a:path h="1053084" w="1053084">
                  <a:moveTo>
                    <a:pt x="0" y="0"/>
                  </a:moveTo>
                  <a:lnTo>
                    <a:pt x="1053084" y="0"/>
                  </a:lnTo>
                  <a:lnTo>
                    <a:pt x="1053084" y="1053084"/>
                  </a:lnTo>
                  <a:lnTo>
                    <a:pt x="0" y="1053084"/>
                  </a:lnTo>
                  <a:close/>
                </a:path>
              </a:pathLst>
            </a:custGeom>
            <a:solidFill>
              <a:srgbClr val="FFD700">
                <a:alpha val="784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753292" y="6486991"/>
            <a:ext cx="400050" cy="457200"/>
            <a:chOff x="0" y="0"/>
            <a:chExt cx="533400" cy="6096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567679" y="6476275"/>
            <a:ext cx="3865436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Eksperimen &amp; Metrik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457398" y="7606559"/>
            <a:ext cx="789813" cy="789813"/>
            <a:chOff x="0" y="0"/>
            <a:chExt cx="1053084" cy="10530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3084" cy="1053084"/>
            </a:xfrm>
            <a:custGeom>
              <a:avLst/>
              <a:gdLst/>
              <a:ahLst/>
              <a:cxnLst/>
              <a:rect r="r" b="b" t="t" l="l"/>
              <a:pathLst>
                <a:path h="1053084" w="1053084">
                  <a:moveTo>
                    <a:pt x="0" y="0"/>
                  </a:moveTo>
                  <a:lnTo>
                    <a:pt x="1053084" y="0"/>
                  </a:lnTo>
                  <a:lnTo>
                    <a:pt x="1053084" y="1053084"/>
                  </a:lnTo>
                  <a:lnTo>
                    <a:pt x="0" y="1053084"/>
                  </a:lnTo>
                  <a:close/>
                </a:path>
              </a:pathLst>
            </a:custGeom>
            <a:solidFill>
              <a:srgbClr val="FFD700">
                <a:alpha val="784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652279" y="7772866"/>
            <a:ext cx="400050" cy="457200"/>
            <a:chOff x="0" y="0"/>
            <a:chExt cx="533400" cy="6096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3466667" y="7762150"/>
            <a:ext cx="4169045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Environment &amp; Jadwal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558410" y="7606559"/>
            <a:ext cx="789813" cy="789813"/>
            <a:chOff x="0" y="0"/>
            <a:chExt cx="1053084" cy="10530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3084" cy="1053084"/>
            </a:xfrm>
            <a:custGeom>
              <a:avLst/>
              <a:gdLst/>
              <a:ahLst/>
              <a:cxnLst/>
              <a:rect r="r" b="b" t="t" l="l"/>
              <a:pathLst>
                <a:path h="1053084" w="1053084">
                  <a:moveTo>
                    <a:pt x="0" y="0"/>
                  </a:moveTo>
                  <a:lnTo>
                    <a:pt x="1053084" y="0"/>
                  </a:lnTo>
                  <a:lnTo>
                    <a:pt x="1053084" y="1053084"/>
                  </a:lnTo>
                  <a:lnTo>
                    <a:pt x="0" y="1053084"/>
                  </a:lnTo>
                  <a:close/>
                </a:path>
              </a:pathLst>
            </a:custGeom>
            <a:solidFill>
              <a:srgbClr val="FFD700">
                <a:alpha val="784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724717" y="7772866"/>
            <a:ext cx="457200" cy="457200"/>
            <a:chOff x="0" y="0"/>
            <a:chExt cx="609600" cy="6096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1567679" y="7762150"/>
            <a:ext cx="4262923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Kesimpulan &amp; Penutup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-591020" y="-702468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1216098">
            <a:off x="2107330" y="-5246714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2"/>
                </a:lnTo>
                <a:lnTo>
                  <a:pt x="0" y="195709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8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5261875" y="8378785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283828" y="1677786"/>
            <a:ext cx="10274582" cy="1606571"/>
          </a:xfrm>
          <a:custGeom>
            <a:avLst/>
            <a:gdLst/>
            <a:ahLst/>
            <a:cxnLst/>
            <a:rect r="r" b="b" t="t" l="l"/>
            <a:pathLst>
              <a:path h="1606571" w="10274582">
                <a:moveTo>
                  <a:pt x="10274582" y="0"/>
                </a:moveTo>
                <a:lnTo>
                  <a:pt x="0" y="0"/>
                </a:lnTo>
                <a:lnTo>
                  <a:pt x="0" y="1606572"/>
                </a:lnTo>
                <a:lnTo>
                  <a:pt x="10274582" y="1606572"/>
                </a:lnTo>
                <a:lnTo>
                  <a:pt x="10274582" y="0"/>
                </a:lnTo>
                <a:close/>
              </a:path>
            </a:pathLst>
          </a:custGeom>
          <a:blipFill>
            <a:blip r:embed="rId15">
              <a:alphaModFix amt="67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4288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994210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TRANSFORMASI DIGITAL &amp; RISIKO SIBER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0075" y="2738514"/>
            <a:ext cx="457200" cy="457200"/>
            <a:chOff x="0" y="0"/>
            <a:chExt cx="609600" cy="6096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28725" y="2702795"/>
            <a:ext cx="4141594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Urgensi Keamanan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075" y="3336207"/>
            <a:ext cx="8401050" cy="178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7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Transformasi digital pesantren meningkatkan risiko serangan siber yang agresif terhadap data umat.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86875" y="2738514"/>
            <a:ext cx="400050" cy="457200"/>
            <a:chOff x="0" y="0"/>
            <a:chExt cx="533400" cy="6096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2" r="0" b="-156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58375" y="2702795"/>
            <a:ext cx="2887856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Target Utama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6875" y="3336207"/>
            <a:ext cx="8401050" cy="178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7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Website akademik menyimpan database informasi pribadi skala besar yang rentan eksploitasi.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0075" y="5609968"/>
            <a:ext cx="457200" cy="457200"/>
            <a:chOff x="0" y="0"/>
            <a:chExt cx="609600" cy="6096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2" r="0" b="-156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28725" y="5574249"/>
            <a:ext cx="3962552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Kondisi Lapangan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075" y="6207662"/>
            <a:ext cx="8401050" cy="178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7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Lemahnya tata kelola patching management dan konfigurasi server yang tidak standar di lingkungan pesantren.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86875" y="5609968"/>
            <a:ext cx="457200" cy="457200"/>
            <a:chOff x="0" y="0"/>
            <a:chExt cx="609600" cy="6096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2" r="0" b="-156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15525" y="5574249"/>
            <a:ext cx="2591400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Fokus Riset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6875" y="6207662"/>
            <a:ext cx="8401050" cy="178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7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Evaluasi teknis pertahanan siber bagi institusi pendidikan Islam tradisional menghadapi era digital.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90931" y="8265100"/>
            <a:ext cx="17106138" cy="754094"/>
            <a:chOff x="0" y="0"/>
            <a:chExt cx="22808184" cy="10054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08185" cy="1005459"/>
            </a:xfrm>
            <a:custGeom>
              <a:avLst/>
              <a:gdLst/>
              <a:ahLst/>
              <a:cxnLst/>
              <a:rect r="r" b="b" t="t" l="l"/>
              <a:pathLst>
                <a:path h="1005459" w="22808185">
                  <a:moveTo>
                    <a:pt x="0" y="0"/>
                  </a:moveTo>
                  <a:lnTo>
                    <a:pt x="22808185" y="0"/>
                  </a:lnTo>
                  <a:lnTo>
                    <a:pt x="22808185" y="1005459"/>
                  </a:lnTo>
                  <a:lnTo>
                    <a:pt x="0" y="1005459"/>
                  </a:lnTo>
                  <a:close/>
                </a:path>
              </a:pathLst>
            </a:custGeom>
            <a:solidFill>
              <a:srgbClr val="FFD700">
                <a:alpha val="0"/>
              </a:srgbClr>
            </a:solidFill>
            <a:ln w="18288" cap="sq">
              <a:solidFill>
                <a:srgbClr val="FFD700"/>
              </a:solidFill>
              <a:prstDash val="dash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00075" y="8468182"/>
            <a:ext cx="17087850" cy="51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9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"Menjaga haibah digital pesantren melalui evaluasi keamanan yang presisi."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7687925" y="-1544841"/>
            <a:ext cx="3778790" cy="3785673"/>
          </a:xfrm>
          <a:custGeom>
            <a:avLst/>
            <a:gdLst/>
            <a:ahLst/>
            <a:cxnLst/>
            <a:rect r="r" b="b" t="t" l="l"/>
            <a:pathLst>
              <a:path h="3785673" w="3778790">
                <a:moveTo>
                  <a:pt x="0" y="0"/>
                </a:moveTo>
                <a:lnTo>
                  <a:pt x="3778790" y="0"/>
                </a:lnTo>
                <a:lnTo>
                  <a:pt x="3778790" y="3785673"/>
                </a:lnTo>
                <a:lnTo>
                  <a:pt x="0" y="3785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422783" y="8468182"/>
            <a:ext cx="2212249" cy="2212249"/>
          </a:xfrm>
          <a:custGeom>
            <a:avLst/>
            <a:gdLst/>
            <a:ahLst/>
            <a:cxnLst/>
            <a:rect r="r" b="b" t="t" l="l"/>
            <a:pathLst>
              <a:path h="2212249" w="2212249">
                <a:moveTo>
                  <a:pt x="0" y="0"/>
                </a:moveTo>
                <a:lnTo>
                  <a:pt x="2212249" y="0"/>
                </a:lnTo>
                <a:lnTo>
                  <a:pt x="2212249" y="2212249"/>
                </a:lnTo>
                <a:lnTo>
                  <a:pt x="0" y="22122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1591908" y="-939718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9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1216098">
            <a:off x="-847421" y="-6187949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2320255" y="-3067688"/>
            <a:ext cx="3778790" cy="3785673"/>
          </a:xfrm>
          <a:custGeom>
            <a:avLst/>
            <a:gdLst/>
            <a:ahLst/>
            <a:cxnLst/>
            <a:rect r="r" b="b" t="t" l="l"/>
            <a:pathLst>
              <a:path h="3785673" w="3778790">
                <a:moveTo>
                  <a:pt x="0" y="0"/>
                </a:moveTo>
                <a:lnTo>
                  <a:pt x="3778791" y="0"/>
                </a:lnTo>
                <a:lnTo>
                  <a:pt x="3778791" y="3785673"/>
                </a:lnTo>
                <a:lnTo>
                  <a:pt x="0" y="3785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890818" y="-1526465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600075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RUMUSAN MASALAH &amp; TUJUAN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43425" y="2510225"/>
            <a:ext cx="457200" cy="457200"/>
            <a:chOff x="0" y="0"/>
            <a:chExt cx="609600" cy="6096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72075" y="2474507"/>
            <a:ext cx="4014340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Rumusan Masalah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3425" y="3160307"/>
            <a:ext cx="428625" cy="13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1.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500" y="3169832"/>
            <a:ext cx="7815262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Berapa jumlah total dan distribusi persentase celah keamanan berdasarkan kategori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High, Medium, Low, Informational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3425" y="4606135"/>
            <a:ext cx="428625" cy="13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2.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3500" y="4615660"/>
            <a:ext cx="7815262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Berapa rata-rata nilai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Severity Score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kerentanan sistem jika dihitung menggunakan metrik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CVSS v3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3425" y="6051963"/>
            <a:ext cx="428625" cy="13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3.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3500" y="6061488"/>
            <a:ext cx="7815262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Berapa persen sampel website yang memiliki celah kritis berkategori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High Risk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(Skor CVSS v3 ≥ 7.0)?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15937" y="2510225"/>
            <a:ext cx="457200" cy="457200"/>
            <a:chOff x="0" y="0"/>
            <a:chExt cx="609600" cy="6096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2" r="0" b="-156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44587" y="2474507"/>
            <a:ext cx="3751136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Tujuan Penelitian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15937" y="3174594"/>
            <a:ext cx="378619" cy="380962"/>
            <a:chOff x="0" y="0"/>
            <a:chExt cx="504825" cy="50794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504825" cy="508000"/>
            </a:xfrm>
            <a:custGeom>
              <a:avLst/>
              <a:gdLst/>
              <a:ahLst/>
              <a:cxnLst/>
              <a:rect r="r" b="b" t="t" l="l"/>
              <a:pathLst>
                <a:path h="5080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9" t="0" r="-309" b="9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116012" y="3169832"/>
            <a:ext cx="7815262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Mengidentifikasi dan menghitung distribusi persentase celah keamanan menggunakan kakas bantu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OWASP ZAP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15937" y="4620423"/>
            <a:ext cx="378619" cy="380962"/>
            <a:chOff x="0" y="0"/>
            <a:chExt cx="504825" cy="507949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504825" cy="508000"/>
            </a:xfrm>
            <a:custGeom>
              <a:avLst/>
              <a:gdLst/>
              <a:ahLst/>
              <a:cxnLst/>
              <a:rect r="r" b="b" t="t" l="l"/>
              <a:pathLst>
                <a:path h="5080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9" t="0" r="-309" b="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116012" y="4615660"/>
            <a:ext cx="7815262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Mengukur dan menganalisis secara kuantitatif rata-rata skor keparahan berdasarkan standar metrik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CVSS v3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15937" y="6066251"/>
            <a:ext cx="378619" cy="380962"/>
            <a:chOff x="0" y="0"/>
            <a:chExt cx="504825" cy="507949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04825" cy="508000"/>
            </a:xfrm>
            <a:custGeom>
              <a:avLst/>
              <a:gdLst/>
              <a:ahLst/>
              <a:cxnLst/>
              <a:rect r="r" b="b" t="t" l="l"/>
              <a:pathLst>
                <a:path h="5080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7" r="0" b="-155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116012" y="6061488"/>
            <a:ext cx="7815262" cy="12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Mengalkulasi persentase website dalam kondisi bahaya kritis guna memetakan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prioritas mitigasi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pertahanan siber.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-1956800" y="-76273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1216098">
            <a:off x="962777" y="-5457900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59" y="0"/>
                </a:lnTo>
                <a:lnTo>
                  <a:pt x="16902159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621282">
            <a:off x="15369905" y="-2194304"/>
            <a:ext cx="3778790" cy="3785673"/>
          </a:xfrm>
          <a:custGeom>
            <a:avLst/>
            <a:gdLst/>
            <a:ahLst/>
            <a:cxnLst/>
            <a:rect r="r" b="b" t="t" l="l"/>
            <a:pathLst>
              <a:path h="3785673" w="3778790">
                <a:moveTo>
                  <a:pt x="0" y="0"/>
                </a:moveTo>
                <a:lnTo>
                  <a:pt x="3778790" y="0"/>
                </a:lnTo>
                <a:lnTo>
                  <a:pt x="3778790" y="3785674"/>
                </a:lnTo>
                <a:lnTo>
                  <a:pt x="0" y="37856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7377217">
            <a:off x="190590" y="8136450"/>
            <a:ext cx="3334408" cy="3334408"/>
          </a:xfrm>
          <a:custGeom>
            <a:avLst/>
            <a:gdLst/>
            <a:ahLst/>
            <a:cxnLst/>
            <a:rect r="r" b="b" t="t" l="l"/>
            <a:pathLst>
              <a:path h="3334408" w="3334408">
                <a:moveTo>
                  <a:pt x="0" y="0"/>
                </a:moveTo>
                <a:lnTo>
                  <a:pt x="3334409" y="0"/>
                </a:lnTo>
                <a:lnTo>
                  <a:pt x="3334409" y="3334408"/>
                </a:lnTo>
                <a:lnTo>
                  <a:pt x="0" y="33344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BATASAN MASALAH KOMPUTASI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4438" y="2715854"/>
            <a:ext cx="335756" cy="380962"/>
            <a:chOff x="0" y="0"/>
            <a:chExt cx="447675" cy="507949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447675" cy="508000"/>
            </a:xfrm>
            <a:custGeom>
              <a:avLst/>
              <a:gdLst/>
              <a:ahLst/>
              <a:cxnLst/>
              <a:rect r="r" b="b" t="t" l="l"/>
              <a:pathLst>
                <a:path h="508000" w="447675">
                  <a:moveTo>
                    <a:pt x="0" y="0"/>
                  </a:moveTo>
                  <a:lnTo>
                    <a:pt x="447675" y="0"/>
                  </a:lnTo>
                  <a:lnTo>
                    <a:pt x="44767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9" t="0" r="-309" b="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1644" y="2688507"/>
            <a:ext cx="2752573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Dataset / Objek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4438" y="3210001"/>
            <a:ext cx="7786688" cy="7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Website resmi Pondok Pesantren aktif di bawah </a:t>
            </a:r>
            <a:r>
              <a:rPr lang="en-US" sz="2200">
                <a:solidFill>
                  <a:srgbClr val="00F0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Yayasan pesantran Islam Al Irsyad</a:t>
            </a: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yang dapat diakses publik.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15488" y="2715854"/>
            <a:ext cx="478631" cy="380962"/>
            <a:chOff x="0" y="0"/>
            <a:chExt cx="638175" cy="50794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38175" cy="508000"/>
            </a:xfrm>
            <a:custGeom>
              <a:avLst/>
              <a:gdLst/>
              <a:ahLst/>
              <a:cxnLst/>
              <a:rect r="r" b="b" t="t" l="l"/>
              <a:pathLst>
                <a:path h="508000" w="638175">
                  <a:moveTo>
                    <a:pt x="0" y="0"/>
                  </a:moveTo>
                  <a:lnTo>
                    <a:pt x="638175" y="0"/>
                  </a:lnTo>
                  <a:lnTo>
                    <a:pt x="63817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8" t="0" r="-310" b="9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65569" y="2688507"/>
            <a:ext cx="3414827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Metode / Algoritma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15488" y="3210001"/>
            <a:ext cx="7786688" cy="88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Hanya tahap </a:t>
            </a:r>
            <a:r>
              <a:rPr lang="en-US" sz="2200">
                <a:solidFill>
                  <a:srgbClr val="00F0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Vulnerability Assessment</a:t>
            </a: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. Tidak melakukan eksploitasi agresif (Penetration Testing).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14438" y="5001854"/>
            <a:ext cx="378619" cy="380962"/>
            <a:chOff x="0" y="0"/>
            <a:chExt cx="504825" cy="50794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04825" cy="508000"/>
            </a:xfrm>
            <a:custGeom>
              <a:avLst/>
              <a:gdLst/>
              <a:ahLst/>
              <a:cxnLst/>
              <a:rect r="r" b="b" t="t" l="l"/>
              <a:pathLst>
                <a:path h="5080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9" t="0" r="-309" b="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64506" y="4974507"/>
            <a:ext cx="1736379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Hardware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4438" y="5496001"/>
            <a:ext cx="7786688" cy="88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Intel Core i7-13620H, RAM 8 GB, NVIDIA GeForce RTX 4060.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15488" y="5001854"/>
            <a:ext cx="478631" cy="380962"/>
            <a:chOff x="0" y="0"/>
            <a:chExt cx="638175" cy="50794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38175" cy="508000"/>
            </a:xfrm>
            <a:custGeom>
              <a:avLst/>
              <a:gdLst/>
              <a:ahLst/>
              <a:cxnLst/>
              <a:rect r="r" b="b" t="t" l="l"/>
              <a:pathLst>
                <a:path h="508000" w="638175">
                  <a:moveTo>
                    <a:pt x="0" y="0"/>
                  </a:moveTo>
                  <a:lnTo>
                    <a:pt x="638175" y="0"/>
                  </a:lnTo>
                  <a:lnTo>
                    <a:pt x="63817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08" t="0" r="-310" b="9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265569" y="4974507"/>
            <a:ext cx="1608906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Software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15488" y="5496001"/>
            <a:ext cx="7786688" cy="88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Windows 11, </a:t>
            </a:r>
            <a:r>
              <a:rPr lang="en-US" sz="2200">
                <a:solidFill>
                  <a:srgbClr val="00F0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OWASP ZAP v2.14.0</a:t>
            </a: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, Google Chrome, Kalkulator CVSS v3.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4438" y="7287854"/>
            <a:ext cx="428625" cy="380962"/>
            <a:chOff x="0" y="0"/>
            <a:chExt cx="571500" cy="507949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71500" cy="508000"/>
            </a:xfrm>
            <a:custGeom>
              <a:avLst/>
              <a:gdLst/>
              <a:ahLst/>
              <a:cxnLst/>
              <a:rect r="r" b="b" t="t" l="l"/>
              <a:pathLst>
                <a:path h="5080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30" r="0" b="-619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814512" y="7260507"/>
            <a:ext cx="3769109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Parameter Penelitian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4438" y="7782001"/>
            <a:ext cx="16187738" cy="45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Jumlah alerts, kategori </a:t>
            </a:r>
            <a:r>
              <a:rPr lang="en-US" sz="2200">
                <a:solidFill>
                  <a:srgbClr val="00F0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OWASP Top 10</a:t>
            </a: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, dan skor keparahan numerik (0.0 - 10.0). Tidak membahas faktor sosial/SDM.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76681" y="8822988"/>
            <a:ext cx="16534638" cy="654082"/>
            <a:chOff x="0" y="0"/>
            <a:chExt cx="22046184" cy="8721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046185" cy="872109"/>
            </a:xfrm>
            <a:custGeom>
              <a:avLst/>
              <a:gdLst/>
              <a:ahLst/>
              <a:cxnLst/>
              <a:rect r="r" b="b" t="t" l="l"/>
              <a:pathLst>
                <a:path h="872109" w="22046185">
                  <a:moveTo>
                    <a:pt x="0" y="0"/>
                  </a:moveTo>
                  <a:lnTo>
                    <a:pt x="22046185" y="0"/>
                  </a:lnTo>
                  <a:lnTo>
                    <a:pt x="22046185" y="872109"/>
                  </a:lnTo>
                  <a:lnTo>
                    <a:pt x="0" y="872109"/>
                  </a:lnTo>
                  <a:close/>
                </a:path>
              </a:pathLst>
            </a:custGeom>
            <a:solidFill>
              <a:srgbClr val="FF4D4D">
                <a:alpha val="0"/>
              </a:srgbClr>
            </a:solidFill>
            <a:ln w="18288" cap="sq">
              <a:solidFill>
                <a:srgbClr val="FF4D4D"/>
              </a:solidFill>
              <a:prstDash val="dash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264360" y="9074953"/>
            <a:ext cx="342900" cy="342900"/>
            <a:chOff x="0" y="0"/>
            <a:chExt cx="457200" cy="4572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453654" y="9044064"/>
            <a:ext cx="97234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F4D4D"/>
                </a:solidFill>
                <a:latin typeface="Inter Bold"/>
                <a:ea typeface="Inter Bold"/>
                <a:cs typeface="Inter Bold"/>
                <a:sym typeface="Inter Bold"/>
              </a:rPr>
              <a:t>Penulis tidak melakukan tindakan hacking merusak yang melanggar adab siber.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740610" y="9057723"/>
            <a:ext cx="342900" cy="342900"/>
            <a:chOff x="0" y="0"/>
            <a:chExt cx="457200" cy="4572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479082" y="8807291"/>
            <a:ext cx="342900" cy="342900"/>
            <a:chOff x="0" y="0"/>
            <a:chExt cx="457200" cy="4572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597577" y="9057723"/>
            <a:ext cx="342900" cy="342900"/>
            <a:chOff x="0" y="0"/>
            <a:chExt cx="457200" cy="4572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073827" y="9040482"/>
            <a:ext cx="342900" cy="342900"/>
            <a:chOff x="0" y="0"/>
            <a:chExt cx="457200" cy="4572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1216098">
            <a:off x="550045" y="-6120160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2"/>
                </a:lnTo>
                <a:lnTo>
                  <a:pt x="0" y="19570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4812289" y="8790051"/>
            <a:ext cx="342900" cy="342900"/>
            <a:chOff x="0" y="0"/>
            <a:chExt cx="457200" cy="4572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819466" y="-2975006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9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1035665">
            <a:off x="17177570" y="-923335"/>
            <a:ext cx="1080536" cy="3859056"/>
          </a:xfrm>
          <a:custGeom>
            <a:avLst/>
            <a:gdLst/>
            <a:ahLst/>
            <a:cxnLst/>
            <a:rect r="r" b="b" t="t" l="l"/>
            <a:pathLst>
              <a:path h="3859056" w="1080536">
                <a:moveTo>
                  <a:pt x="0" y="0"/>
                </a:moveTo>
                <a:lnTo>
                  <a:pt x="1080536" y="0"/>
                </a:lnTo>
                <a:lnTo>
                  <a:pt x="1080536" y="3859055"/>
                </a:lnTo>
                <a:lnTo>
                  <a:pt x="0" y="385905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5338220">
            <a:off x="-3118721" y="-894402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9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" y="114300"/>
            <a:ext cx="18059400" cy="10287000"/>
            <a:chOff x="0" y="0"/>
            <a:chExt cx="240792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07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875" y="11227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RESEARCH GAP &amp; STATE-OF-THE-ART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12375" y="2457907"/>
            <a:ext cx="4286679" cy="704088"/>
            <a:chOff x="0" y="0"/>
            <a:chExt cx="5715572" cy="9387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508" cy="938784"/>
            </a:xfrm>
            <a:custGeom>
              <a:avLst/>
              <a:gdLst/>
              <a:ahLst/>
              <a:cxnLst/>
              <a:rect r="r" b="b" t="t" l="l"/>
              <a:pathLst>
                <a:path h="938784" w="5715508">
                  <a:moveTo>
                    <a:pt x="0" y="0"/>
                  </a:moveTo>
                  <a:lnTo>
                    <a:pt x="5715508" y="0"/>
                  </a:lnTo>
                  <a:lnTo>
                    <a:pt x="5715508" y="938784"/>
                  </a:lnTo>
                  <a:lnTo>
                    <a:pt x="0" y="938784"/>
                  </a:lnTo>
                  <a:close/>
                </a:path>
              </a:pathLst>
            </a:custGeom>
            <a:solidFill>
              <a:srgbClr val="00F0FF">
                <a:alpha val="784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21519" y="2467051"/>
            <a:ext cx="4268391" cy="685800"/>
            <a:chOff x="0" y="0"/>
            <a:chExt cx="5691188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91187" cy="914400"/>
            </a:xfrm>
            <a:custGeom>
              <a:avLst/>
              <a:gdLst/>
              <a:ahLst/>
              <a:cxnLst/>
              <a:rect r="r" b="b" t="t" l="l"/>
              <a:pathLst>
                <a:path h="914400" w="5691187">
                  <a:moveTo>
                    <a:pt x="0" y="0"/>
                  </a:moveTo>
                  <a:lnTo>
                    <a:pt x="5691187" y="0"/>
                  </a:lnTo>
                  <a:lnTo>
                    <a:pt x="5691187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74" r="0" b="-712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91188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F0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Penulis &amp; Tahun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80765" y="2457907"/>
            <a:ext cx="5994035" cy="704088"/>
            <a:chOff x="0" y="0"/>
            <a:chExt cx="7992046" cy="938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91983" cy="938784"/>
            </a:xfrm>
            <a:custGeom>
              <a:avLst/>
              <a:gdLst/>
              <a:ahLst/>
              <a:cxnLst/>
              <a:rect r="r" b="b" t="t" l="l"/>
              <a:pathLst>
                <a:path h="938784" w="7991983">
                  <a:moveTo>
                    <a:pt x="0" y="0"/>
                  </a:moveTo>
                  <a:lnTo>
                    <a:pt x="7991983" y="0"/>
                  </a:lnTo>
                  <a:lnTo>
                    <a:pt x="7991983" y="938784"/>
                  </a:lnTo>
                  <a:lnTo>
                    <a:pt x="0" y="938784"/>
                  </a:lnTo>
                  <a:close/>
                </a:path>
              </a:pathLst>
            </a:custGeom>
            <a:solidFill>
              <a:srgbClr val="00F0FF">
                <a:alpha val="784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989909" y="2467051"/>
            <a:ext cx="5975747" cy="685800"/>
            <a:chOff x="0" y="0"/>
            <a:chExt cx="7967662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67662" cy="914400"/>
            </a:xfrm>
            <a:custGeom>
              <a:avLst/>
              <a:gdLst/>
              <a:ahLst/>
              <a:cxnLst/>
              <a:rect r="r" b="b" t="t" l="l"/>
              <a:pathLst>
                <a:path h="914400" w="7967662">
                  <a:moveTo>
                    <a:pt x="0" y="0"/>
                  </a:moveTo>
                  <a:lnTo>
                    <a:pt x="7967662" y="0"/>
                  </a:lnTo>
                  <a:lnTo>
                    <a:pt x="796766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83" r="0" b="-11978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967662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F0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Objek &amp; Metode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56512" y="2457907"/>
            <a:ext cx="6847713" cy="704088"/>
            <a:chOff x="0" y="0"/>
            <a:chExt cx="9130284" cy="9387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30284" cy="938784"/>
            </a:xfrm>
            <a:custGeom>
              <a:avLst/>
              <a:gdLst/>
              <a:ahLst/>
              <a:cxnLst/>
              <a:rect r="r" b="b" t="t" l="l"/>
              <a:pathLst>
                <a:path h="938784" w="9130284">
                  <a:moveTo>
                    <a:pt x="0" y="0"/>
                  </a:moveTo>
                  <a:lnTo>
                    <a:pt x="9130284" y="0"/>
                  </a:lnTo>
                  <a:lnTo>
                    <a:pt x="9130284" y="938784"/>
                  </a:lnTo>
                  <a:lnTo>
                    <a:pt x="0" y="938784"/>
                  </a:lnTo>
                  <a:close/>
                </a:path>
              </a:pathLst>
            </a:custGeom>
            <a:solidFill>
              <a:srgbClr val="00F0FF">
                <a:alpha val="784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65656" y="2467051"/>
            <a:ext cx="6829425" cy="685800"/>
            <a:chOff x="0" y="0"/>
            <a:chExt cx="91059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05902" cy="914400"/>
            </a:xfrm>
            <a:custGeom>
              <a:avLst/>
              <a:gdLst/>
              <a:ahLst/>
              <a:cxnLst/>
              <a:rect r="r" b="b" t="t" l="l"/>
              <a:pathLst>
                <a:path h="914400" w="9105902">
                  <a:moveTo>
                    <a:pt x="0" y="0"/>
                  </a:moveTo>
                  <a:lnTo>
                    <a:pt x="9105902" y="0"/>
                  </a:lnTo>
                  <a:lnTo>
                    <a:pt x="910590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38" r="0" b="-14403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91059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F0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Research Gap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3627" y="3189618"/>
            <a:ext cx="4157777" cy="40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Ribeiro et al. (2025)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92017" y="3189618"/>
            <a:ext cx="5865133" cy="40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Web Kampus / Nmap &amp; Scanners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67764" y="3189618"/>
            <a:ext cx="6718811" cy="40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Tidak fokus pada lembaga keagamaan.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3627" y="3653961"/>
            <a:ext cx="4157777" cy="40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Nurbojatmiko (2022)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92017" y="3653961"/>
            <a:ext cx="5865133" cy="40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Sharia Crowdfunding / ZAP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67764" y="3653961"/>
            <a:ext cx="6718811" cy="40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Fokus finansial, bukan akademik pesantren.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3627" y="4118305"/>
            <a:ext cx="4157777" cy="40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Shahid et al. (2022)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92017" y="4118305"/>
            <a:ext cx="5865133" cy="40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Synthetic Web / OWASP ZAP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67764" y="4118305"/>
            <a:ext cx="6718811" cy="40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Objek buatan, bukan website aktif riil.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14375" y="4781626"/>
            <a:ext cx="421481" cy="419138"/>
            <a:chOff x="0" y="0"/>
            <a:chExt cx="561975" cy="558851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561975" cy="558800"/>
            </a:xfrm>
            <a:custGeom>
              <a:avLst/>
              <a:gdLst/>
              <a:ahLst/>
              <a:cxnLst/>
              <a:rect r="r" b="b" t="t" l="l"/>
              <a:pathLst>
                <a:path h="558800" w="561975">
                  <a:moveTo>
                    <a:pt x="0" y="0"/>
                  </a:moveTo>
                  <a:lnTo>
                    <a:pt x="561975" y="0"/>
                  </a:lnTo>
                  <a:lnTo>
                    <a:pt x="561975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84" r="0" b="-1993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35856" y="4774482"/>
            <a:ext cx="4051849" cy="46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9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Posisi Penelitian Ini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14375" y="5331695"/>
            <a:ext cx="214312" cy="959939"/>
            <a:chOff x="0" y="0"/>
            <a:chExt cx="285750" cy="1279919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285750" cy="1279906"/>
            </a:xfrm>
            <a:custGeom>
              <a:avLst/>
              <a:gdLst/>
              <a:ahLst/>
              <a:cxnLst/>
              <a:rect r="r" b="b" t="t" l="l"/>
              <a:pathLst>
                <a:path h="1279906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1279906"/>
                  </a:lnTo>
                  <a:lnTo>
                    <a:pt x="0" y="1279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04" r="0" b="-606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00138" y="5303120"/>
            <a:ext cx="8015288" cy="98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Belum ada riset </a:t>
            </a:r>
            <a:r>
              <a:rPr lang="en-US" sz="2499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komputasi murni</a:t>
            </a: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yang mengukur kerentanan website Pesantren di Indonesia.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86875" y="5331695"/>
            <a:ext cx="214312" cy="959939"/>
            <a:chOff x="0" y="0"/>
            <a:chExt cx="285750" cy="1279919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285750" cy="1279906"/>
            </a:xfrm>
            <a:custGeom>
              <a:avLst/>
              <a:gdLst/>
              <a:ahLst/>
              <a:cxnLst/>
              <a:rect r="r" b="b" t="t" l="l"/>
              <a:pathLst>
                <a:path h="1279906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1279906"/>
                  </a:lnTo>
                  <a:lnTo>
                    <a:pt x="0" y="1279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04" r="0" b="-606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672638" y="5303120"/>
            <a:ext cx="8015288" cy="98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Menjembatani gap teknis dengan integrasi </a:t>
            </a:r>
            <a:r>
              <a:rPr lang="en-US" sz="2499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Automated Scanning</a:t>
            </a: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2499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Metrik CVSS v3</a:t>
            </a: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-1591908" y="-939718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1591908" y="-939718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1216098">
            <a:off x="1327669" y="-5634882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803716" y="-1401092"/>
            <a:ext cx="3087595" cy="3081981"/>
          </a:xfrm>
          <a:custGeom>
            <a:avLst/>
            <a:gdLst/>
            <a:ahLst/>
            <a:cxnLst/>
            <a:rect r="r" b="b" t="t" l="l"/>
            <a:pathLst>
              <a:path h="3081981" w="3087595">
                <a:moveTo>
                  <a:pt x="0" y="0"/>
                </a:moveTo>
                <a:lnTo>
                  <a:pt x="3087595" y="0"/>
                </a:lnTo>
                <a:lnTo>
                  <a:pt x="3087595" y="3081981"/>
                </a:lnTo>
                <a:lnTo>
                  <a:pt x="0" y="30819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62583" y="7472734"/>
            <a:ext cx="7315200" cy="492113"/>
          </a:xfrm>
          <a:custGeom>
            <a:avLst/>
            <a:gdLst/>
            <a:ahLst/>
            <a:cxnLst/>
            <a:rect r="r" b="b" t="t" l="l"/>
            <a:pathLst>
              <a:path h="492113" w="7315200">
                <a:moveTo>
                  <a:pt x="0" y="0"/>
                </a:moveTo>
                <a:lnTo>
                  <a:pt x="7315200" y="0"/>
                </a:lnTo>
                <a:lnTo>
                  <a:pt x="7315200" y="492113"/>
                </a:lnTo>
                <a:lnTo>
                  <a:pt x="0" y="49211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7069631" y="-939718"/>
            <a:ext cx="1152144" cy="4114800"/>
          </a:xfrm>
          <a:custGeom>
            <a:avLst/>
            <a:gdLst/>
            <a:ahLst/>
            <a:cxnLst/>
            <a:rect r="r" b="b" t="t" l="l"/>
            <a:pathLst>
              <a:path h="4114800" w="1152144">
                <a:moveTo>
                  <a:pt x="0" y="0"/>
                </a:moveTo>
                <a:lnTo>
                  <a:pt x="1152144" y="0"/>
                </a:lnTo>
                <a:lnTo>
                  <a:pt x="11521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-2200150" y="-240997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1216098">
            <a:off x="664345" y="-3493827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2"/>
                </a:lnTo>
                <a:lnTo>
                  <a:pt x="0" y="19570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2195474" y="-2871350"/>
            <a:ext cx="3087595" cy="3081981"/>
          </a:xfrm>
          <a:custGeom>
            <a:avLst/>
            <a:gdLst/>
            <a:ahLst/>
            <a:cxnLst/>
            <a:rect r="r" b="b" t="t" l="l"/>
            <a:pathLst>
              <a:path h="3081981" w="3087595">
                <a:moveTo>
                  <a:pt x="0" y="0"/>
                </a:moveTo>
                <a:lnTo>
                  <a:pt x="3087595" y="0"/>
                </a:lnTo>
                <a:lnTo>
                  <a:pt x="3087595" y="3081981"/>
                </a:lnTo>
                <a:lnTo>
                  <a:pt x="0" y="30819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-10800000">
            <a:off x="9722261" y="7541985"/>
            <a:ext cx="7315200" cy="492113"/>
          </a:xfrm>
          <a:custGeom>
            <a:avLst/>
            <a:gdLst/>
            <a:ahLst/>
            <a:cxnLst/>
            <a:rect r="r" b="b" t="t" l="l"/>
            <a:pathLst>
              <a:path h="492113" w="7315200">
                <a:moveTo>
                  <a:pt x="0" y="0"/>
                </a:moveTo>
                <a:lnTo>
                  <a:pt x="7315200" y="0"/>
                </a:lnTo>
                <a:lnTo>
                  <a:pt x="7315200" y="492113"/>
                </a:lnTo>
                <a:lnTo>
                  <a:pt x="0" y="49211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6461389" y="-2409977"/>
            <a:ext cx="1152144" cy="4114800"/>
          </a:xfrm>
          <a:custGeom>
            <a:avLst/>
            <a:gdLst/>
            <a:ahLst/>
            <a:cxnLst/>
            <a:rect r="r" b="b" t="t" l="l"/>
            <a:pathLst>
              <a:path h="4114800" w="1152144">
                <a:moveTo>
                  <a:pt x="0" y="0"/>
                </a:moveTo>
                <a:lnTo>
                  <a:pt x="1152144" y="0"/>
                </a:lnTo>
                <a:lnTo>
                  <a:pt x="11521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MATRIKS STATE-OF-THE-ART (LANJUTANYA)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98075" y="2400757"/>
            <a:ext cx="3433000" cy="861250"/>
            <a:chOff x="0" y="0"/>
            <a:chExt cx="4577334" cy="11483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7334" cy="1148334"/>
            </a:xfrm>
            <a:custGeom>
              <a:avLst/>
              <a:gdLst/>
              <a:ahLst/>
              <a:cxnLst/>
              <a:rect r="r" b="b" t="t" l="l"/>
              <a:pathLst>
                <a:path h="1148334" w="4577334">
                  <a:moveTo>
                    <a:pt x="0" y="0"/>
                  </a:moveTo>
                  <a:lnTo>
                    <a:pt x="4577334" y="0"/>
                  </a:lnTo>
                  <a:lnTo>
                    <a:pt x="4577334" y="1148334"/>
                  </a:lnTo>
                  <a:lnTo>
                    <a:pt x="0" y="1148334"/>
                  </a:lnTo>
                  <a:close/>
                </a:path>
              </a:pathLst>
            </a:custGeom>
            <a:solidFill>
              <a:srgbClr val="00F0FF">
                <a:alpha val="784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07219" y="2409901"/>
            <a:ext cx="3414712" cy="842962"/>
            <a:chOff x="0" y="0"/>
            <a:chExt cx="4552950" cy="1123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52949" cy="1123949"/>
            </a:xfrm>
            <a:custGeom>
              <a:avLst/>
              <a:gdLst/>
              <a:ahLst/>
              <a:cxnLst/>
              <a:rect r="r" b="b" t="t" l="l"/>
              <a:pathLst>
                <a:path h="1123949" w="4552949">
                  <a:moveTo>
                    <a:pt x="0" y="0"/>
                  </a:moveTo>
                  <a:lnTo>
                    <a:pt x="4552949" y="0"/>
                  </a:lnTo>
                  <a:lnTo>
                    <a:pt x="4552949" y="1123949"/>
                  </a:lnTo>
                  <a:lnTo>
                    <a:pt x="0" y="1123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30" r="0" b="-28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552950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F0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Penulis &amp; Tahun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12787" y="2400757"/>
            <a:ext cx="4286679" cy="861250"/>
            <a:chOff x="0" y="0"/>
            <a:chExt cx="5715572" cy="11483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508" cy="1148334"/>
            </a:xfrm>
            <a:custGeom>
              <a:avLst/>
              <a:gdLst/>
              <a:ahLst/>
              <a:cxnLst/>
              <a:rect r="r" b="b" t="t" l="l"/>
              <a:pathLst>
                <a:path h="1148334" w="5715508">
                  <a:moveTo>
                    <a:pt x="0" y="0"/>
                  </a:moveTo>
                  <a:lnTo>
                    <a:pt x="5715508" y="0"/>
                  </a:lnTo>
                  <a:lnTo>
                    <a:pt x="5715508" y="1148334"/>
                  </a:lnTo>
                  <a:lnTo>
                    <a:pt x="0" y="1148334"/>
                  </a:lnTo>
                  <a:close/>
                </a:path>
              </a:pathLst>
            </a:custGeom>
            <a:solidFill>
              <a:srgbClr val="00F0FF">
                <a:alpha val="784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021931" y="2409901"/>
            <a:ext cx="4268391" cy="842962"/>
            <a:chOff x="0" y="0"/>
            <a:chExt cx="5691188" cy="1123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91187" cy="1123949"/>
            </a:xfrm>
            <a:custGeom>
              <a:avLst/>
              <a:gdLst/>
              <a:ahLst/>
              <a:cxnLst/>
              <a:rect r="r" b="b" t="t" l="l"/>
              <a:pathLst>
                <a:path h="1123949" w="5691187">
                  <a:moveTo>
                    <a:pt x="0" y="0"/>
                  </a:moveTo>
                  <a:lnTo>
                    <a:pt x="5691187" y="0"/>
                  </a:lnTo>
                  <a:lnTo>
                    <a:pt x="5691187" y="1123949"/>
                  </a:lnTo>
                  <a:lnTo>
                    <a:pt x="0" y="1123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63" r="0" b="-4866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691188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F0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Metode / Objek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81178" y="2400757"/>
            <a:ext cx="4286679" cy="861250"/>
            <a:chOff x="0" y="0"/>
            <a:chExt cx="5715572" cy="11483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15508" cy="1148334"/>
            </a:xfrm>
            <a:custGeom>
              <a:avLst/>
              <a:gdLst/>
              <a:ahLst/>
              <a:cxnLst/>
              <a:rect r="r" b="b" t="t" l="l"/>
              <a:pathLst>
                <a:path h="1148334" w="5715508">
                  <a:moveTo>
                    <a:pt x="0" y="0"/>
                  </a:moveTo>
                  <a:lnTo>
                    <a:pt x="5715508" y="0"/>
                  </a:lnTo>
                  <a:lnTo>
                    <a:pt x="5715508" y="1148334"/>
                  </a:lnTo>
                  <a:lnTo>
                    <a:pt x="0" y="1148334"/>
                  </a:lnTo>
                  <a:close/>
                </a:path>
              </a:pathLst>
            </a:custGeom>
            <a:solidFill>
              <a:srgbClr val="00F0FF">
                <a:alpha val="784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290322" y="2409901"/>
            <a:ext cx="4268391" cy="842962"/>
            <a:chOff x="0" y="0"/>
            <a:chExt cx="5691188" cy="11239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91187" cy="1123949"/>
            </a:xfrm>
            <a:custGeom>
              <a:avLst/>
              <a:gdLst/>
              <a:ahLst/>
              <a:cxnLst/>
              <a:rect r="r" b="b" t="t" l="l"/>
              <a:pathLst>
                <a:path h="1123949" w="5691187">
                  <a:moveTo>
                    <a:pt x="0" y="0"/>
                  </a:moveTo>
                  <a:lnTo>
                    <a:pt x="5691187" y="0"/>
                  </a:lnTo>
                  <a:lnTo>
                    <a:pt x="5691187" y="1123949"/>
                  </a:lnTo>
                  <a:lnTo>
                    <a:pt x="0" y="1123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63" r="0" b="-486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691188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F0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Hasil Utama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49568" y="2400757"/>
            <a:ext cx="5140357" cy="861250"/>
            <a:chOff x="0" y="0"/>
            <a:chExt cx="6853809" cy="11483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3809" cy="1148334"/>
            </a:xfrm>
            <a:custGeom>
              <a:avLst/>
              <a:gdLst/>
              <a:ahLst/>
              <a:cxnLst/>
              <a:rect r="r" b="b" t="t" l="l"/>
              <a:pathLst>
                <a:path h="1148334" w="6853809">
                  <a:moveTo>
                    <a:pt x="0" y="0"/>
                  </a:moveTo>
                  <a:lnTo>
                    <a:pt x="6853809" y="0"/>
                  </a:lnTo>
                  <a:lnTo>
                    <a:pt x="6853809" y="1148334"/>
                  </a:lnTo>
                  <a:lnTo>
                    <a:pt x="0" y="1148334"/>
                  </a:lnTo>
                  <a:close/>
                </a:path>
              </a:pathLst>
            </a:custGeom>
            <a:solidFill>
              <a:srgbClr val="00F0FF">
                <a:alpha val="784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558712" y="2409901"/>
            <a:ext cx="5122069" cy="842962"/>
            <a:chOff x="0" y="0"/>
            <a:chExt cx="6829425" cy="11239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9424" cy="1123949"/>
            </a:xfrm>
            <a:custGeom>
              <a:avLst/>
              <a:gdLst/>
              <a:ahLst/>
              <a:cxnLst/>
              <a:rect r="r" b="b" t="t" l="l"/>
              <a:pathLst>
                <a:path h="1123949" w="6829424">
                  <a:moveTo>
                    <a:pt x="0" y="0"/>
                  </a:moveTo>
                  <a:lnTo>
                    <a:pt x="6829424" y="0"/>
                  </a:lnTo>
                  <a:lnTo>
                    <a:pt x="6829424" y="1123949"/>
                  </a:lnTo>
                  <a:lnTo>
                    <a:pt x="0" y="1123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96" r="0" b="-683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829425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F0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Research Gap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09327" y="3323663"/>
            <a:ext cx="3304099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Neupane (2025)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24039" y="332366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OWASP ZAP, SQLMap / PHP-MySQL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92430" y="332366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Metodologi deteksi &amp; mitigasi SQLi.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60820" y="3323663"/>
            <a:ext cx="5011455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Hanya fokus pada satu jenis celah (SQLi).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327" y="4638113"/>
            <a:ext cx="3304099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Potti et al. (2024)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24039" y="463811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Benchmark ZAP V2.12 vs V2.13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92430" y="463811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Akurasi meningkat, FP menurun pada versi baru.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60820" y="4638113"/>
            <a:ext cx="5011455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Pengujian laboratorium, bukan website riil aktif.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9327" y="5952563"/>
            <a:ext cx="3304099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Swetha et al. (2024)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124039" y="595256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Nessus, Acunetix, Nikto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92430" y="595256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Nessus unggul dalam akurasi metrik CVSS.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60820" y="5952563"/>
            <a:ext cx="5011455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Fokus pada korporasi, bukan pendidikan Islam.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09327" y="7267013"/>
            <a:ext cx="3304099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Eshetu et al. (2024)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124039" y="726701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Nmap, Nessus, Vega / Ethiopia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392430" y="726701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Celah kritis server banyak yang belum ditambal.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60820" y="7267013"/>
            <a:ext cx="5011455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Infrastruktur Afrika; belum menyentuh Indonesia.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9327" y="8581463"/>
            <a:ext cx="3304099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Shahid et al. (2022)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124039" y="858146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OWASP ZAP / Web App Params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392430" y="8581463"/>
            <a:ext cx="4157777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100% recall rate pada parameter tertentu.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60820" y="8581463"/>
            <a:ext cx="5011455" cy="12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Objek synthetic web, bukan domain aktif.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-1591908" y="-939718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1216098">
            <a:off x="3329093" y="-572028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59" y="0"/>
                </a:lnTo>
                <a:lnTo>
                  <a:pt x="16902159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-936579" y="-939718"/>
            <a:ext cx="3087595" cy="3081981"/>
          </a:xfrm>
          <a:custGeom>
            <a:avLst/>
            <a:gdLst/>
            <a:ahLst/>
            <a:cxnLst/>
            <a:rect r="r" b="b" t="t" l="l"/>
            <a:pathLst>
              <a:path h="3081981" w="3087595">
                <a:moveTo>
                  <a:pt x="0" y="0"/>
                </a:moveTo>
                <a:lnTo>
                  <a:pt x="3087595" y="0"/>
                </a:lnTo>
                <a:lnTo>
                  <a:pt x="3087595" y="3081981"/>
                </a:lnTo>
                <a:lnTo>
                  <a:pt x="0" y="30819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-117737" y="8724925"/>
            <a:ext cx="580267" cy="2072380"/>
          </a:xfrm>
          <a:custGeom>
            <a:avLst/>
            <a:gdLst/>
            <a:ahLst/>
            <a:cxnLst/>
            <a:rect r="r" b="b" t="t" l="l"/>
            <a:pathLst>
              <a:path h="2072380" w="580267">
                <a:moveTo>
                  <a:pt x="0" y="0"/>
                </a:moveTo>
                <a:lnTo>
                  <a:pt x="580266" y="0"/>
                </a:lnTo>
                <a:lnTo>
                  <a:pt x="580266" y="2072381"/>
                </a:lnTo>
                <a:lnTo>
                  <a:pt x="0" y="20723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-6093428">
            <a:off x="-169902" y="-5851374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2"/>
                </a:lnTo>
                <a:lnTo>
                  <a:pt x="0" y="19570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" y="114300"/>
            <a:ext cx="18059400" cy="10287000"/>
            <a:chOff x="0" y="0"/>
            <a:chExt cx="240792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07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875" y="11227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LANDASAN TEORI UTAMA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62356" y="2450763"/>
            <a:ext cx="5695112" cy="4733163"/>
            <a:chOff x="0" y="0"/>
            <a:chExt cx="7593482" cy="63108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93457" cy="6310884"/>
            </a:xfrm>
            <a:custGeom>
              <a:avLst/>
              <a:gdLst/>
              <a:ahLst/>
              <a:cxnLst/>
              <a:rect r="r" b="b" t="t" l="l"/>
              <a:pathLst>
                <a:path h="6310884" w="7593457">
                  <a:moveTo>
                    <a:pt x="0" y="0"/>
                  </a:moveTo>
                  <a:lnTo>
                    <a:pt x="7593457" y="0"/>
                  </a:lnTo>
                  <a:lnTo>
                    <a:pt x="7593457" y="6310884"/>
                  </a:lnTo>
                  <a:lnTo>
                    <a:pt x="0" y="63108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981287" y="2667076"/>
            <a:ext cx="857250" cy="762038"/>
            <a:chOff x="0" y="0"/>
            <a:chExt cx="1143000" cy="101605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43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2" r="0" b="-62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61166" y="3624339"/>
            <a:ext cx="3097482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9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OWASP TOP 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3608" y="4232253"/>
            <a:ext cx="5472608" cy="189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4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Standar global yang merilis </a:t>
            </a:r>
            <a:r>
              <a:rPr lang="en-US" sz="2499" b="true">
                <a:solidFill>
                  <a:srgbClr val="FFD700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10 risiko keamanan</a:t>
            </a:r>
            <a:r>
              <a:rPr lang="en-US" sz="24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aplikasi web paling kritis, seperti Injection dan Broken Access Control.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10630" y="2450763"/>
            <a:ext cx="5695226" cy="4733163"/>
            <a:chOff x="0" y="0"/>
            <a:chExt cx="7593635" cy="63108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93584" cy="6310884"/>
            </a:xfrm>
            <a:custGeom>
              <a:avLst/>
              <a:gdLst/>
              <a:ahLst/>
              <a:cxnLst/>
              <a:rect r="r" b="b" t="t" l="l"/>
              <a:pathLst>
                <a:path h="6310884" w="7593584">
                  <a:moveTo>
                    <a:pt x="0" y="0"/>
                  </a:moveTo>
                  <a:lnTo>
                    <a:pt x="7593584" y="0"/>
                  </a:lnTo>
                  <a:lnTo>
                    <a:pt x="7593584" y="6310884"/>
                  </a:lnTo>
                  <a:lnTo>
                    <a:pt x="0" y="63108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783126" y="2667076"/>
            <a:ext cx="950119" cy="762038"/>
            <a:chOff x="0" y="0"/>
            <a:chExt cx="1266825" cy="1016051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266825" cy="1016000"/>
            </a:xfrm>
            <a:custGeom>
              <a:avLst/>
              <a:gdLst/>
              <a:ahLst/>
              <a:cxnLst/>
              <a:rect r="r" b="b" t="t" l="l"/>
              <a:pathLst>
                <a:path h="1016000" w="1266825">
                  <a:moveTo>
                    <a:pt x="0" y="0"/>
                  </a:moveTo>
                  <a:lnTo>
                    <a:pt x="1266825" y="0"/>
                  </a:lnTo>
                  <a:lnTo>
                    <a:pt x="1266825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22" r="0" b="-62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004800" y="3624339"/>
            <a:ext cx="250679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9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OWASP ZAP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882" y="4232253"/>
            <a:ext cx="5472722" cy="189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4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Kakas bantu </a:t>
            </a:r>
            <a:r>
              <a:rPr lang="en-US" sz="2499" b="true">
                <a:solidFill>
                  <a:srgbClr val="FFD700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Automated Scanning</a:t>
            </a:r>
            <a:r>
              <a:rPr lang="en-US" sz="24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yang bekerja melalui mekanisme Spidering dan Active Scan Engine.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59018" y="2450763"/>
            <a:ext cx="5695226" cy="4733163"/>
            <a:chOff x="0" y="0"/>
            <a:chExt cx="7593635" cy="63108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93584" cy="6310884"/>
            </a:xfrm>
            <a:custGeom>
              <a:avLst/>
              <a:gdLst/>
              <a:ahLst/>
              <a:cxnLst/>
              <a:rect r="r" b="b" t="t" l="l"/>
              <a:pathLst>
                <a:path h="6310884" w="7593584">
                  <a:moveTo>
                    <a:pt x="0" y="0"/>
                  </a:moveTo>
                  <a:lnTo>
                    <a:pt x="7593584" y="0"/>
                  </a:lnTo>
                  <a:lnTo>
                    <a:pt x="7593584" y="6310884"/>
                  </a:lnTo>
                  <a:lnTo>
                    <a:pt x="0" y="63108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820824" y="2667076"/>
            <a:ext cx="571500" cy="762038"/>
            <a:chOff x="0" y="0"/>
            <a:chExt cx="762000" cy="101605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62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3" r="0" b="-15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221530" y="3624339"/>
            <a:ext cx="1770088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9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CVSS V3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70270" y="4232253"/>
            <a:ext cx="5472722" cy="189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4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Kerangka kerja numerik skala </a:t>
            </a:r>
            <a:r>
              <a:rPr lang="en-US" sz="2499" b="true">
                <a:solidFill>
                  <a:srgbClr val="FFD700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0.0 – 10.0</a:t>
            </a:r>
            <a:r>
              <a:rPr lang="en-US" sz="24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untuk mengukur tingkat keparahan kerentanan secara objektif.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1216098">
            <a:off x="3329093" y="-572028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59" y="0"/>
                </a:lnTo>
                <a:lnTo>
                  <a:pt x="16902159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1216098">
            <a:off x="3481493" y="-556788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59" y="0"/>
                </a:lnTo>
                <a:lnTo>
                  <a:pt x="16902159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216098">
            <a:off x="3633893" y="-541548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59" y="0"/>
                </a:lnTo>
                <a:lnTo>
                  <a:pt x="16902159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1216098">
            <a:off x="-1925731" y="-7962576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59" y="0"/>
                </a:lnTo>
                <a:lnTo>
                  <a:pt x="16902159" y="19570922"/>
                </a:lnTo>
                <a:lnTo>
                  <a:pt x="0" y="19570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1216098">
            <a:off x="-2193612" y="-673736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59" y="0"/>
                </a:lnTo>
                <a:lnTo>
                  <a:pt x="16902159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216098">
            <a:off x="3786293" y="-526308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59" y="0"/>
                </a:lnTo>
                <a:lnTo>
                  <a:pt x="16902159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624068" y="8453099"/>
            <a:ext cx="3087595" cy="3081981"/>
          </a:xfrm>
          <a:custGeom>
            <a:avLst/>
            <a:gdLst/>
            <a:ahLst/>
            <a:cxnLst/>
            <a:rect r="r" b="b" t="t" l="l"/>
            <a:pathLst>
              <a:path h="3081981" w="3087595">
                <a:moveTo>
                  <a:pt x="0" y="0"/>
                </a:moveTo>
                <a:lnTo>
                  <a:pt x="3087595" y="0"/>
                </a:lnTo>
                <a:lnTo>
                  <a:pt x="3087595" y="3081981"/>
                </a:lnTo>
                <a:lnTo>
                  <a:pt x="0" y="30819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DETAIL RISIKO OWASP TOP 10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33806" y="2536488"/>
            <a:ext cx="8312182" cy="1075563"/>
            <a:chOff x="0" y="0"/>
            <a:chExt cx="11082909" cy="14340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988545"/>
            <a:ext cx="428625" cy="342900"/>
            <a:chOff x="0" y="0"/>
            <a:chExt cx="571500" cy="457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3" r="0" b="-208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71638" y="2984973"/>
            <a:ext cx="3358572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Broken Access Control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42012" y="2536488"/>
            <a:ext cx="8312182" cy="1075563"/>
            <a:chOff x="0" y="0"/>
            <a:chExt cx="11082909" cy="14340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36906" y="2974257"/>
            <a:ext cx="342900" cy="342900"/>
            <a:chOff x="0" y="0"/>
            <a:chExt cx="457200" cy="4572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094119" y="2970686"/>
            <a:ext cx="3335798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Cryptographic Failures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3806" y="3779501"/>
            <a:ext cx="8312182" cy="1075563"/>
            <a:chOff x="0" y="0"/>
            <a:chExt cx="11082909" cy="14340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4231557"/>
            <a:ext cx="428625" cy="342900"/>
            <a:chOff x="0" y="0"/>
            <a:chExt cx="571500" cy="457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3" r="0" b="-208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671638" y="4227986"/>
            <a:ext cx="1252833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Injection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42012" y="3779501"/>
            <a:ext cx="8312182" cy="1075563"/>
            <a:chOff x="0" y="0"/>
            <a:chExt cx="11082909" cy="1434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536906" y="4217270"/>
            <a:ext cx="342900" cy="342900"/>
            <a:chOff x="0" y="0"/>
            <a:chExt cx="457200" cy="457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094119" y="4213698"/>
            <a:ext cx="2354085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Insecure Design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33806" y="5022513"/>
            <a:ext cx="8312182" cy="1075563"/>
            <a:chOff x="0" y="0"/>
            <a:chExt cx="11082909" cy="14340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5474570"/>
            <a:ext cx="342900" cy="342900"/>
            <a:chOff x="0" y="0"/>
            <a:chExt cx="457200" cy="4572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083" r="0" b="-2083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585912" y="5470998"/>
            <a:ext cx="3741877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Security Misconfiguration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42012" y="5022513"/>
            <a:ext cx="8312182" cy="1075563"/>
            <a:chOff x="0" y="0"/>
            <a:chExt cx="11082909" cy="14340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536906" y="5460282"/>
            <a:ext cx="342900" cy="342900"/>
            <a:chOff x="0" y="0"/>
            <a:chExt cx="457200" cy="4572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094119" y="5456711"/>
            <a:ext cx="5220300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Vulnerable &amp; Outdated Components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33806" y="6265526"/>
            <a:ext cx="8312182" cy="1075563"/>
            <a:chOff x="0" y="0"/>
            <a:chExt cx="11082909" cy="14340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6717582"/>
            <a:ext cx="385762" cy="342900"/>
            <a:chOff x="0" y="0"/>
            <a:chExt cx="514350" cy="4572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083" r="0" b="-2083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628775" y="6714011"/>
            <a:ext cx="4221290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Identification &amp; Auth Failures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42012" y="6265526"/>
            <a:ext cx="8312182" cy="1075563"/>
            <a:chOff x="0" y="0"/>
            <a:chExt cx="11082909" cy="14340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536906" y="6703295"/>
            <a:ext cx="385762" cy="342900"/>
            <a:chOff x="0" y="0"/>
            <a:chExt cx="514350" cy="4572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0136981" y="6699723"/>
            <a:ext cx="4876838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Software &amp; Data Integrity Failures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33806" y="7508538"/>
            <a:ext cx="8312182" cy="1075563"/>
            <a:chOff x="0" y="0"/>
            <a:chExt cx="11082909" cy="14340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28700" y="7960595"/>
            <a:ext cx="385762" cy="342900"/>
            <a:chOff x="0" y="0"/>
            <a:chExt cx="514350" cy="45720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083" r="0" b="-2083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628775" y="7957023"/>
            <a:ext cx="5705284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Security Logging &amp; Monitoring Failures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242012" y="7508538"/>
            <a:ext cx="8312182" cy="1075563"/>
            <a:chOff x="0" y="0"/>
            <a:chExt cx="11082909" cy="14340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82909" cy="1434084"/>
            </a:xfrm>
            <a:custGeom>
              <a:avLst/>
              <a:gdLst/>
              <a:ahLst/>
              <a:cxnLst/>
              <a:rect r="r" b="b" t="t" l="l"/>
              <a:pathLst>
                <a:path h="1434084" w="11082909">
                  <a:moveTo>
                    <a:pt x="0" y="0"/>
                  </a:moveTo>
                  <a:lnTo>
                    <a:pt x="11082909" y="0"/>
                  </a:lnTo>
                  <a:lnTo>
                    <a:pt x="11082909" y="1434084"/>
                  </a:lnTo>
                  <a:lnTo>
                    <a:pt x="0" y="1434084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  <a:ln w="18288" cap="sq">
              <a:solidFill>
                <a:srgbClr val="00F0F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536906" y="7946307"/>
            <a:ext cx="342900" cy="342900"/>
            <a:chOff x="0" y="0"/>
            <a:chExt cx="457200" cy="4572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0094119" y="7942736"/>
            <a:ext cx="5300329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Server-Side Request Forgery (SSRF)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42950" y="8984532"/>
            <a:ext cx="16802100" cy="38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FFD700"/>
                </a:solidFill>
                <a:latin typeface="Inter Italics"/>
                <a:ea typeface="Inter Italics"/>
                <a:cs typeface="Inter Italics"/>
                <a:sym typeface="Inter Italics"/>
              </a:rPr>
              <a:t>Pemahaman terhadap kategori ini menjadi dasar klasifikasi temuan kerentanan dalam riset.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-1591908" y="-939718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9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1216098">
            <a:off x="1327669" y="-5634882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5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-1439508" y="-787318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9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1216098">
            <a:off x="1480069" y="-5482482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5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2700000">
            <a:off x="17417016" y="-442857"/>
            <a:ext cx="576072" cy="2057400"/>
          </a:xfrm>
          <a:custGeom>
            <a:avLst/>
            <a:gdLst/>
            <a:ahLst/>
            <a:cxnLst/>
            <a:rect r="r" b="b" t="t" l="l"/>
            <a:pathLst>
              <a:path h="2057400" w="576072">
                <a:moveTo>
                  <a:pt x="0" y="0"/>
                </a:moveTo>
                <a:lnTo>
                  <a:pt x="576072" y="0"/>
                </a:lnTo>
                <a:lnTo>
                  <a:pt x="57607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METODOLOGI PENELITIAN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43112" y="2917107"/>
            <a:ext cx="714375" cy="714375"/>
            <a:chOff x="0" y="0"/>
            <a:chExt cx="952500" cy="95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D7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43112" y="2917107"/>
            <a:ext cx="714375" cy="714375"/>
            <a:chOff x="0" y="0"/>
            <a:chExt cx="952500" cy="95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501" cy="952501"/>
            </a:xfrm>
            <a:custGeom>
              <a:avLst/>
              <a:gdLst/>
              <a:ahLst/>
              <a:cxnLst/>
              <a:rect r="r" b="b" t="t" l="l"/>
              <a:pathLst>
                <a:path h="952501" w="952501">
                  <a:moveTo>
                    <a:pt x="0" y="0"/>
                  </a:moveTo>
                  <a:lnTo>
                    <a:pt x="952501" y="0"/>
                  </a:lnTo>
                  <a:lnTo>
                    <a:pt x="952501" y="952501"/>
                  </a:lnTo>
                  <a:lnTo>
                    <a:pt x="0" y="952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9525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A112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57400" y="3824364"/>
            <a:ext cx="685800" cy="685800"/>
            <a:chOff x="0" y="0"/>
            <a:chExt cx="914400" cy="9144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41" r="0" b="-104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28675" y="4774482"/>
            <a:ext cx="3143250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IDENTIFIKASI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8675" y="5253114"/>
            <a:ext cx="3143250" cy="114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Penentuan objek website Pesantren aktif di bawah Yayasan Al Irsyad.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414962" y="2917107"/>
            <a:ext cx="714375" cy="714375"/>
            <a:chOff x="0" y="0"/>
            <a:chExt cx="952500" cy="952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D7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14962" y="2917107"/>
            <a:ext cx="714375" cy="714375"/>
            <a:chOff x="0" y="0"/>
            <a:chExt cx="952500" cy="952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2501" cy="952501"/>
            </a:xfrm>
            <a:custGeom>
              <a:avLst/>
              <a:gdLst/>
              <a:ahLst/>
              <a:cxnLst/>
              <a:rect r="r" b="b" t="t" l="l"/>
              <a:pathLst>
                <a:path h="952501" w="952501">
                  <a:moveTo>
                    <a:pt x="0" y="0"/>
                  </a:moveTo>
                  <a:lnTo>
                    <a:pt x="952501" y="0"/>
                  </a:lnTo>
                  <a:lnTo>
                    <a:pt x="952501" y="952501"/>
                  </a:lnTo>
                  <a:lnTo>
                    <a:pt x="0" y="952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9525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A112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200525" y="4774482"/>
            <a:ext cx="3143250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SCANNING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00525" y="5253114"/>
            <a:ext cx="3143250" cy="114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Pemindaian otomatis mendalam menggunakan OWASP ZAP.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786812" y="2917107"/>
            <a:ext cx="714375" cy="714375"/>
            <a:chOff x="0" y="0"/>
            <a:chExt cx="952500" cy="952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D7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786812" y="2917107"/>
            <a:ext cx="714375" cy="714375"/>
            <a:chOff x="0" y="0"/>
            <a:chExt cx="952500" cy="952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2501" cy="952501"/>
            </a:xfrm>
            <a:custGeom>
              <a:avLst/>
              <a:gdLst/>
              <a:ahLst/>
              <a:cxnLst/>
              <a:rect r="r" b="b" t="t" l="l"/>
              <a:pathLst>
                <a:path h="952501" w="952501">
                  <a:moveTo>
                    <a:pt x="0" y="0"/>
                  </a:moveTo>
                  <a:lnTo>
                    <a:pt x="952501" y="0"/>
                  </a:lnTo>
                  <a:lnTo>
                    <a:pt x="952501" y="952501"/>
                  </a:lnTo>
                  <a:lnTo>
                    <a:pt x="0" y="952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525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A112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58238" y="3824364"/>
            <a:ext cx="771525" cy="685800"/>
            <a:chOff x="0" y="0"/>
            <a:chExt cx="1028700" cy="9144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287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41" r="0" b="-104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572375" y="4774482"/>
            <a:ext cx="3143250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EXTRACTION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72375" y="5253114"/>
            <a:ext cx="3143250" cy="114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Ekstraksi temuan weakness flags dari hasil pemindaian.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58662" y="2917107"/>
            <a:ext cx="714375" cy="714375"/>
            <a:chOff x="0" y="0"/>
            <a:chExt cx="952500" cy="952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D7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158662" y="2917107"/>
            <a:ext cx="714375" cy="714375"/>
            <a:chOff x="0" y="0"/>
            <a:chExt cx="952500" cy="952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2501" cy="952501"/>
            </a:xfrm>
            <a:custGeom>
              <a:avLst/>
              <a:gdLst/>
              <a:ahLst/>
              <a:cxnLst/>
              <a:rect r="r" b="b" t="t" l="l"/>
              <a:pathLst>
                <a:path h="952501" w="952501">
                  <a:moveTo>
                    <a:pt x="0" y="0"/>
                  </a:moveTo>
                  <a:lnTo>
                    <a:pt x="952501" y="0"/>
                  </a:lnTo>
                  <a:lnTo>
                    <a:pt x="952501" y="952501"/>
                  </a:lnTo>
                  <a:lnTo>
                    <a:pt x="0" y="952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525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A112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58675" y="3824364"/>
            <a:ext cx="514350" cy="685800"/>
            <a:chOff x="0" y="0"/>
            <a:chExt cx="685800" cy="9144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685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1" r="0" b="-1041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944225" y="4774482"/>
            <a:ext cx="3143250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SCORING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44225" y="5253114"/>
            <a:ext cx="3143250" cy="114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Konversi temuan ke nilai numerik standar metrik CVSS v3.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5530512" y="2917107"/>
            <a:ext cx="714375" cy="714375"/>
            <a:chOff x="0" y="0"/>
            <a:chExt cx="952500" cy="952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D7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530512" y="2917107"/>
            <a:ext cx="714375" cy="714375"/>
            <a:chOff x="0" y="0"/>
            <a:chExt cx="952500" cy="952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2501" cy="952501"/>
            </a:xfrm>
            <a:custGeom>
              <a:avLst/>
              <a:gdLst/>
              <a:ahLst/>
              <a:cxnLst/>
              <a:rect r="r" b="b" t="t" l="l"/>
              <a:pathLst>
                <a:path h="952501" w="952501">
                  <a:moveTo>
                    <a:pt x="0" y="0"/>
                  </a:moveTo>
                  <a:lnTo>
                    <a:pt x="952501" y="0"/>
                  </a:lnTo>
                  <a:lnTo>
                    <a:pt x="952501" y="952501"/>
                  </a:lnTo>
                  <a:lnTo>
                    <a:pt x="0" y="952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9525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A112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544800" y="3824364"/>
            <a:ext cx="685800" cy="685800"/>
            <a:chOff x="0" y="0"/>
            <a:chExt cx="914400" cy="9144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041" r="0" b="-1041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4316075" y="4774482"/>
            <a:ext cx="3143250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ANALYSIS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316075" y="5253114"/>
            <a:ext cx="3143250" cy="114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Pemetaan tingkat bahaya dan prioritas mitigasi keamanan.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71575" y="6830092"/>
            <a:ext cx="15944850" cy="14288"/>
            <a:chOff x="0" y="0"/>
            <a:chExt cx="21259800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259800" cy="19050"/>
            </a:xfrm>
            <a:custGeom>
              <a:avLst/>
              <a:gdLst/>
              <a:ahLst/>
              <a:cxnLst/>
              <a:rect r="r" b="b" t="t" l="l"/>
              <a:pathLst>
                <a:path h="190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B3FBF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71575" y="6907692"/>
            <a:ext cx="15944850" cy="44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FFD700"/>
                </a:solidFill>
                <a:latin typeface="Inter Italics"/>
                <a:ea typeface="Inter Italics"/>
                <a:cs typeface="Inter Italics"/>
                <a:sym typeface="Inter Italics"/>
              </a:rPr>
              <a:t>Pendekatan kuantitatif untuk penilaian risiko siber yang objektif dan berbasis data.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-2700000">
            <a:off x="15743245" y="60564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true" flipV="true" rot="-1483901">
            <a:off x="1256780" y="-55012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-2700000">
            <a:off x="15958771" y="60564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true" flipV="true" rot="-1483901">
            <a:off x="1472306" y="-55012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-2700000">
            <a:off x="16174297" y="60564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true" flipV="true" rot="-1483901">
            <a:off x="1687832" y="-55012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001250"/>
            <a:chOff x="0" y="0"/>
            <a:chExt cx="24384000" cy="13335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335000"/>
            </a:xfrm>
            <a:custGeom>
              <a:avLst/>
              <a:gdLst/>
              <a:ahLst/>
              <a:cxnLst/>
              <a:rect r="r" b="b" t="t" l="l"/>
              <a:pathLst>
                <a:path h="1333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335000"/>
                  </a:lnTo>
                  <a:lnTo>
                    <a:pt x="0" y="133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ARSITEKTUR ZAP &amp; SKENARIO PENGUJIAN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0075" y="2695651"/>
            <a:ext cx="514350" cy="457200"/>
            <a:chOff x="0" y="0"/>
            <a:chExt cx="685800" cy="6096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85800" cy="609600"/>
            </a:xfrm>
            <a:custGeom>
              <a:avLst/>
              <a:gdLst/>
              <a:ahLst/>
              <a:cxnLst/>
              <a:rect r="r" b="b" t="t" l="l"/>
              <a:pathLst>
                <a:path h="6096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85875" y="2659932"/>
            <a:ext cx="4470425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Spidering (Crawling)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075" y="3302870"/>
            <a:ext cx="8372475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Proses penjelajahan otomatis terhadap struktur URL dan tautan target untuk membangun </a:t>
            </a:r>
            <a:r>
              <a:rPr lang="en-US" sz="2700">
                <a:solidFill>
                  <a:srgbClr val="00F0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Site Tree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. Termasuk AJAX Spider untuk merender JavaScript.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15450" y="2695651"/>
            <a:ext cx="342900" cy="457200"/>
            <a:chOff x="0" y="0"/>
            <a:chExt cx="457200" cy="6096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2" r="0" b="-156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29800" y="2659932"/>
            <a:ext cx="4243168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Active Scan Engine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15450" y="3302870"/>
            <a:ext cx="8372475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Mesin yang mengirimkan </a:t>
            </a:r>
            <a:r>
              <a:rPr lang="en-US" sz="2700">
                <a:solidFill>
                  <a:srgbClr val="00F0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Attack Payloads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ke setiap endpoint guna mendeteksi celah aktif seperti SQLi, XSS, dan Path Traversal.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0931" y="6365538"/>
            <a:ext cx="17106138" cy="1318450"/>
            <a:chOff x="0" y="0"/>
            <a:chExt cx="22808184" cy="17579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08185" cy="1757934"/>
            </a:xfrm>
            <a:custGeom>
              <a:avLst/>
              <a:gdLst/>
              <a:ahLst/>
              <a:cxnLst/>
              <a:rect r="r" b="b" t="t" l="l"/>
              <a:pathLst>
                <a:path h="1757934" w="22808185">
                  <a:moveTo>
                    <a:pt x="0" y="0"/>
                  </a:moveTo>
                  <a:lnTo>
                    <a:pt x="22808185" y="0"/>
                  </a:lnTo>
                  <a:lnTo>
                    <a:pt x="22808185" y="1757934"/>
                  </a:lnTo>
                  <a:lnTo>
                    <a:pt x="0" y="1757934"/>
                  </a:lnTo>
                  <a:close/>
                </a:path>
              </a:pathLst>
            </a:custGeom>
            <a:solidFill>
              <a:srgbClr val="FFD700">
                <a:alpha val="0"/>
              </a:srgbClr>
            </a:solidFill>
            <a:ln w="18288" cap="sq">
              <a:solidFill>
                <a:srgbClr val="FFD700"/>
              </a:solidFill>
              <a:prstDash val="dash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00075" y="6546132"/>
            <a:ext cx="1708785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9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Skenario &amp; Batasan Pengujian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8383" y="7278367"/>
            <a:ext cx="342900" cy="342900"/>
            <a:chOff x="0" y="0"/>
            <a:chExt cx="457200" cy="4572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94158" y="7253364"/>
            <a:ext cx="4148176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Vulnerability Assessment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58950" y="7278367"/>
            <a:ext cx="342900" cy="342900"/>
            <a:chOff x="0" y="0"/>
            <a:chExt cx="457200" cy="4572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944735" y="7253364"/>
            <a:ext cx="4445870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 Aggressive Exploitation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207221" y="7278367"/>
            <a:ext cx="342900" cy="342900"/>
            <a:chOff x="0" y="0"/>
            <a:chExt cx="457200" cy="457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92996" y="7253364"/>
            <a:ext cx="4586621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Sampel: Tahap Pelaksanaan</a:t>
            </a:r>
          </a:p>
        </p:txBody>
      </p:sp>
      <p:sp>
        <p:nvSpPr>
          <p:cNvPr name="Freeform 25" id="25"/>
          <p:cNvSpPr/>
          <p:nvPr/>
        </p:nvSpPr>
        <p:spPr>
          <a:xfrm flipH="false" flipV="true" rot="-2700000">
            <a:off x="15743245" y="60564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5241215"/>
                </a:moveTo>
                <a:lnTo>
                  <a:pt x="5241215" y="5241215"/>
                </a:lnTo>
                <a:lnTo>
                  <a:pt x="5241215" y="0"/>
                </a:lnTo>
                <a:lnTo>
                  <a:pt x="0" y="0"/>
                </a:lnTo>
                <a:lnTo>
                  <a:pt x="0" y="5241215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-1483901">
            <a:off x="1256780" y="-55012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0"/>
                </a:moveTo>
                <a:lnTo>
                  <a:pt x="0" y="0"/>
                </a:lnTo>
                <a:lnTo>
                  <a:pt x="0" y="19570921"/>
                </a:lnTo>
                <a:lnTo>
                  <a:pt x="16902159" y="19570921"/>
                </a:lnTo>
                <a:lnTo>
                  <a:pt x="16902159" y="0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2700000">
            <a:off x="15958771" y="60564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5241215"/>
                </a:moveTo>
                <a:lnTo>
                  <a:pt x="5241215" y="5241215"/>
                </a:lnTo>
                <a:lnTo>
                  <a:pt x="5241215" y="0"/>
                </a:lnTo>
                <a:lnTo>
                  <a:pt x="0" y="0"/>
                </a:lnTo>
                <a:lnTo>
                  <a:pt x="0" y="5241215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-1483901">
            <a:off x="1472306" y="-55012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0"/>
                </a:moveTo>
                <a:lnTo>
                  <a:pt x="0" y="0"/>
                </a:lnTo>
                <a:lnTo>
                  <a:pt x="0" y="19570921"/>
                </a:lnTo>
                <a:lnTo>
                  <a:pt x="16902159" y="19570921"/>
                </a:lnTo>
                <a:lnTo>
                  <a:pt x="16902159" y="0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true" rot="-2700000">
            <a:off x="16174297" y="60564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5241215"/>
                </a:moveTo>
                <a:lnTo>
                  <a:pt x="5241215" y="5241215"/>
                </a:lnTo>
                <a:lnTo>
                  <a:pt x="5241215" y="0"/>
                </a:lnTo>
                <a:lnTo>
                  <a:pt x="0" y="0"/>
                </a:lnTo>
                <a:lnTo>
                  <a:pt x="0" y="5241215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-1483901">
            <a:off x="1687832" y="-55012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0"/>
                </a:moveTo>
                <a:lnTo>
                  <a:pt x="0" y="0"/>
                </a:lnTo>
                <a:lnTo>
                  <a:pt x="0" y="19570921"/>
                </a:lnTo>
                <a:lnTo>
                  <a:pt x="16902159" y="19570921"/>
                </a:lnTo>
                <a:lnTo>
                  <a:pt x="16902159" y="0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METRIK KALKULASI CVSS V3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42950" y="2818209"/>
            <a:ext cx="364331" cy="419138"/>
            <a:chOff x="0" y="0"/>
            <a:chExt cx="485775" cy="558851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485775" cy="558800"/>
            </a:xfrm>
            <a:custGeom>
              <a:avLst/>
              <a:gdLst/>
              <a:ahLst/>
              <a:cxnLst/>
              <a:rect r="r" b="b" t="t" l="l"/>
              <a:pathLst>
                <a:path h="558800" w="485775">
                  <a:moveTo>
                    <a:pt x="0" y="0"/>
                  </a:moveTo>
                  <a:lnTo>
                    <a:pt x="485775" y="0"/>
                  </a:lnTo>
                  <a:lnTo>
                    <a:pt x="485775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9" r="0" b="-288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78731" y="2788520"/>
            <a:ext cx="4191371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9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Exploitability Metrics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2950" y="3595764"/>
            <a:ext cx="171450" cy="959939"/>
            <a:chOff x="0" y="0"/>
            <a:chExt cx="228600" cy="12799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28600" cy="1279906"/>
            </a:xfrm>
            <a:custGeom>
              <a:avLst/>
              <a:gdLst/>
              <a:ahLst/>
              <a:cxnLst/>
              <a:rect r="r" b="b" t="t" l="l"/>
              <a:pathLst>
                <a:path h="1279906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279906"/>
                  </a:lnTo>
                  <a:lnTo>
                    <a:pt x="0" y="1279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0" b="-60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7275" y="3567189"/>
            <a:ext cx="7872412" cy="98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Attack Vector (AV):</a:t>
            </a:r>
            <a:r>
              <a:rPr lang="en-US" sz="24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Network, Adjacent, Local, Physical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42950" y="4670003"/>
            <a:ext cx="171450" cy="479974"/>
            <a:chOff x="0" y="0"/>
            <a:chExt cx="228600" cy="63996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28600" cy="639953"/>
            </a:xfrm>
            <a:custGeom>
              <a:avLst/>
              <a:gdLst/>
              <a:ahLst/>
              <a:cxnLst/>
              <a:rect r="r" b="b" t="t" l="l"/>
              <a:pathLst>
                <a:path h="639953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93" r="0" b="-209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57275" y="4631903"/>
            <a:ext cx="5526024" cy="51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Attack Complexity (AC):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Low, High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42950" y="5264277"/>
            <a:ext cx="171450" cy="479974"/>
            <a:chOff x="0" y="0"/>
            <a:chExt cx="228600" cy="63996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28600" cy="639953"/>
            </a:xfrm>
            <a:custGeom>
              <a:avLst/>
              <a:gdLst/>
              <a:ahLst/>
              <a:cxnLst/>
              <a:rect r="r" b="b" t="t" l="l"/>
              <a:pathLst>
                <a:path h="639953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93" r="0" b="-209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57275" y="5226177"/>
            <a:ext cx="6727288" cy="51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Privileges Required (PR):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None, Low, High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42950" y="5858542"/>
            <a:ext cx="171450" cy="479974"/>
            <a:chOff x="0" y="0"/>
            <a:chExt cx="228600" cy="639966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28600" cy="639953"/>
            </a:xfrm>
            <a:custGeom>
              <a:avLst/>
              <a:gdLst/>
              <a:ahLst/>
              <a:cxnLst/>
              <a:rect r="r" b="b" t="t" l="l"/>
              <a:pathLst>
                <a:path h="639953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05" r="0" b="-60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57275" y="5820442"/>
            <a:ext cx="5888460" cy="51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User Interaction (UI):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None, Required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58312" y="2818209"/>
            <a:ext cx="421481" cy="419138"/>
            <a:chOff x="0" y="0"/>
            <a:chExt cx="561975" cy="558851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561975" cy="558800"/>
            </a:xfrm>
            <a:custGeom>
              <a:avLst/>
              <a:gdLst/>
              <a:ahLst/>
              <a:cxnLst/>
              <a:rect r="r" b="b" t="t" l="l"/>
              <a:pathLst>
                <a:path h="558800" w="561975">
                  <a:moveTo>
                    <a:pt x="0" y="0"/>
                  </a:moveTo>
                  <a:lnTo>
                    <a:pt x="561975" y="0"/>
                  </a:lnTo>
                  <a:lnTo>
                    <a:pt x="561975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79" r="0" b="-288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951244" y="2788520"/>
            <a:ext cx="293430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9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Impact Metrics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58312" y="3595764"/>
            <a:ext cx="171450" cy="479974"/>
            <a:chOff x="0" y="0"/>
            <a:chExt cx="228600" cy="63996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228600" cy="639953"/>
            </a:xfrm>
            <a:custGeom>
              <a:avLst/>
              <a:gdLst/>
              <a:ahLst/>
              <a:cxnLst/>
              <a:rect r="r" b="b" t="t" l="l"/>
              <a:pathLst>
                <a:path h="639953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93" r="0" b="-2093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72638" y="3557664"/>
            <a:ext cx="5678167" cy="51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Confidentiality (C):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None, Low, High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58312" y="4190028"/>
            <a:ext cx="171450" cy="479974"/>
            <a:chOff x="0" y="0"/>
            <a:chExt cx="228600" cy="639966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228600" cy="639953"/>
            </a:xfrm>
            <a:custGeom>
              <a:avLst/>
              <a:gdLst/>
              <a:ahLst/>
              <a:cxnLst/>
              <a:rect r="r" b="b" t="t" l="l"/>
              <a:pathLst>
                <a:path h="639953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05" r="0" b="-605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72638" y="4161453"/>
            <a:ext cx="4497324" cy="50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Integrity (I):</a:t>
            </a:r>
            <a:r>
              <a:rPr lang="en-US" sz="24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None, Low, High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58312" y="4784303"/>
            <a:ext cx="171450" cy="479974"/>
            <a:chOff x="0" y="0"/>
            <a:chExt cx="228600" cy="639966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228600" cy="639953"/>
            </a:xfrm>
            <a:custGeom>
              <a:avLst/>
              <a:gdLst/>
              <a:ahLst/>
              <a:cxnLst/>
              <a:rect r="r" b="b" t="t" l="l"/>
              <a:pathLst>
                <a:path h="639953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93" r="0" b="-2093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672638" y="4746203"/>
            <a:ext cx="5094722" cy="51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Availability (A):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None, Low, High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358312" y="5378577"/>
            <a:ext cx="171450" cy="479974"/>
            <a:chOff x="0" y="0"/>
            <a:chExt cx="228600" cy="639966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228600" cy="639953"/>
            </a:xfrm>
            <a:custGeom>
              <a:avLst/>
              <a:gdLst/>
              <a:ahLst/>
              <a:cxnLst/>
              <a:rect r="r" b="b" t="t" l="l"/>
              <a:pathLst>
                <a:path h="639953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93" r="0" b="-2093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672638" y="5350002"/>
            <a:ext cx="5127317" cy="50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Scope (S):</a:t>
            </a:r>
            <a:r>
              <a:rPr lang="en-US" sz="24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Unchanged, Changed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33806" y="6779876"/>
            <a:ext cx="16820388" cy="1118426"/>
            <a:chOff x="0" y="0"/>
            <a:chExt cx="22427184" cy="14912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427185" cy="1491234"/>
            </a:xfrm>
            <a:custGeom>
              <a:avLst/>
              <a:gdLst/>
              <a:ahLst/>
              <a:cxnLst/>
              <a:rect r="r" b="b" t="t" l="l"/>
              <a:pathLst>
                <a:path h="1491234" w="22427185">
                  <a:moveTo>
                    <a:pt x="0" y="0"/>
                  </a:moveTo>
                  <a:lnTo>
                    <a:pt x="22427185" y="0"/>
                  </a:lnTo>
                  <a:lnTo>
                    <a:pt x="22427185" y="1491234"/>
                  </a:lnTo>
                  <a:lnTo>
                    <a:pt x="0" y="1491234"/>
                  </a:lnTo>
                  <a:close/>
                </a:path>
              </a:pathLst>
            </a:custGeom>
            <a:solidFill>
              <a:srgbClr val="FFD700">
                <a:alpha val="0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742950" y="7003332"/>
            <a:ext cx="16802100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Base Score = f(Exploitability, Impact, Scope)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2950" y="7481649"/>
            <a:ext cx="16802100" cy="378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Menghasilkan skor numerik objektif pada skala </a:t>
            </a:r>
            <a:r>
              <a:rPr lang="en-US" sz="22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0.0 – 10.0</a:t>
            </a:r>
          </a:p>
        </p:txBody>
      </p:sp>
      <p:sp>
        <p:nvSpPr>
          <p:cNvPr name="Freeform 39" id="39"/>
          <p:cNvSpPr/>
          <p:nvPr/>
        </p:nvSpPr>
        <p:spPr>
          <a:xfrm flipH="false" flipV="true" rot="-2700000">
            <a:off x="15743245" y="60564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5241215"/>
                </a:moveTo>
                <a:lnTo>
                  <a:pt x="5241215" y="5241215"/>
                </a:lnTo>
                <a:lnTo>
                  <a:pt x="5241215" y="0"/>
                </a:lnTo>
                <a:lnTo>
                  <a:pt x="0" y="0"/>
                </a:lnTo>
                <a:lnTo>
                  <a:pt x="0" y="5241215"/>
                </a:lnTo>
                <a:close/>
              </a:path>
            </a:pathLst>
          </a:custGeom>
          <a:blipFill>
            <a:blip r:embed="rId10">
              <a:alphaModFix amt="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true" flipV="false" rot="-1483901">
            <a:off x="1256780" y="-55012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0"/>
                </a:moveTo>
                <a:lnTo>
                  <a:pt x="0" y="0"/>
                </a:lnTo>
                <a:lnTo>
                  <a:pt x="0" y="19570921"/>
                </a:lnTo>
                <a:lnTo>
                  <a:pt x="16902159" y="19570921"/>
                </a:lnTo>
                <a:lnTo>
                  <a:pt x="16902159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true" rot="-2700000">
            <a:off x="15958771" y="60564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5241215"/>
                </a:moveTo>
                <a:lnTo>
                  <a:pt x="5241215" y="5241215"/>
                </a:lnTo>
                <a:lnTo>
                  <a:pt x="5241215" y="0"/>
                </a:lnTo>
                <a:lnTo>
                  <a:pt x="0" y="0"/>
                </a:lnTo>
                <a:lnTo>
                  <a:pt x="0" y="5241215"/>
                </a:lnTo>
                <a:close/>
              </a:path>
            </a:pathLst>
          </a:custGeom>
          <a:blipFill>
            <a:blip r:embed="rId10">
              <a:alphaModFix amt="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true" flipV="false" rot="-1483901">
            <a:off x="1472306" y="-55012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0"/>
                </a:moveTo>
                <a:lnTo>
                  <a:pt x="0" y="0"/>
                </a:lnTo>
                <a:lnTo>
                  <a:pt x="0" y="19570921"/>
                </a:lnTo>
                <a:lnTo>
                  <a:pt x="16902159" y="19570921"/>
                </a:lnTo>
                <a:lnTo>
                  <a:pt x="16902159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true" rot="-2700000">
            <a:off x="16174297" y="60564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5241215"/>
                </a:moveTo>
                <a:lnTo>
                  <a:pt x="5241215" y="5241215"/>
                </a:lnTo>
                <a:lnTo>
                  <a:pt x="5241215" y="0"/>
                </a:lnTo>
                <a:lnTo>
                  <a:pt x="0" y="0"/>
                </a:lnTo>
                <a:lnTo>
                  <a:pt x="0" y="5241215"/>
                </a:lnTo>
                <a:close/>
              </a:path>
            </a:pathLst>
          </a:custGeom>
          <a:blipFill>
            <a:blip r:embed="rId10">
              <a:alphaModFix amt="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true" flipV="false" rot="-1483901">
            <a:off x="907233" y="-5115458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0"/>
                </a:moveTo>
                <a:lnTo>
                  <a:pt x="0" y="0"/>
                </a:lnTo>
                <a:lnTo>
                  <a:pt x="0" y="19570921"/>
                </a:lnTo>
                <a:lnTo>
                  <a:pt x="16902159" y="19570921"/>
                </a:lnTo>
                <a:lnTo>
                  <a:pt x="16902159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DETAIL METRIK CVSS V3 &amp; SCORING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681" y="2393613"/>
            <a:ext cx="16534638" cy="2061400"/>
            <a:chOff x="0" y="0"/>
            <a:chExt cx="22046184" cy="27485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6185" cy="2748534"/>
            </a:xfrm>
            <a:custGeom>
              <a:avLst/>
              <a:gdLst/>
              <a:ahLst/>
              <a:cxnLst/>
              <a:rect r="r" b="b" t="t" l="l"/>
              <a:pathLst>
                <a:path h="2748534" w="22046185">
                  <a:moveTo>
                    <a:pt x="0" y="0"/>
                  </a:moveTo>
                  <a:lnTo>
                    <a:pt x="22046185" y="0"/>
                  </a:lnTo>
                  <a:lnTo>
                    <a:pt x="22046185" y="2748534"/>
                  </a:lnTo>
                  <a:lnTo>
                    <a:pt x="0" y="2748534"/>
                  </a:lnTo>
                  <a:close/>
                </a:path>
              </a:pathLst>
            </a:custGeom>
            <a:solidFill>
              <a:srgbClr val="FFD700">
                <a:alpha val="0"/>
              </a:srgbClr>
            </a:solidFill>
            <a:ln w="18288" cap="sq">
              <a:solidFill>
                <a:srgbClr val="FFD700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14450" y="2688507"/>
            <a:ext cx="15659100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Mekanisme Kalkulasi Skor Keparahan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450" y="3352238"/>
            <a:ext cx="15659100" cy="57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400">
                <a:solidFill>
                  <a:srgbClr val="00F0FF"/>
                </a:solidFill>
                <a:latin typeface="Courier New"/>
                <a:ea typeface="Courier New"/>
                <a:cs typeface="Courier New"/>
                <a:sym typeface="Courier New"/>
              </a:rPr>
              <a:t>Base Score = RoundUp(Min[(Impact + Exploitability), 10])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450" y="4009463"/>
            <a:ext cx="15659100" cy="40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*Impact = f(ISS, Scope) | Exploitability = f(AV, AC, PR, UI)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85825" y="5131670"/>
            <a:ext cx="3131753" cy="1971675"/>
            <a:chOff x="0" y="0"/>
            <a:chExt cx="4175671" cy="2628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75633" cy="2628900"/>
            </a:xfrm>
            <a:custGeom>
              <a:avLst/>
              <a:gdLst/>
              <a:ahLst/>
              <a:cxnLst/>
              <a:rect r="r" b="b" t="t" l="l"/>
              <a:pathLst>
                <a:path h="2628900" w="4175633">
                  <a:moveTo>
                    <a:pt x="0" y="0"/>
                  </a:moveTo>
                  <a:lnTo>
                    <a:pt x="4175633" y="0"/>
                  </a:lnTo>
                  <a:lnTo>
                    <a:pt x="4175633" y="2628900"/>
                  </a:lnTo>
                  <a:lnTo>
                    <a:pt x="0" y="2628900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825" y="5131670"/>
            <a:ext cx="3131753" cy="42862"/>
            <a:chOff x="0" y="0"/>
            <a:chExt cx="4175671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5633" cy="57150"/>
            </a:xfrm>
            <a:custGeom>
              <a:avLst/>
              <a:gdLst/>
              <a:ahLst/>
              <a:cxnLst/>
              <a:rect r="r" b="b" t="t" l="l"/>
              <a:pathLst>
                <a:path h="57150" w="4175633">
                  <a:moveTo>
                    <a:pt x="0" y="0"/>
                  </a:moveTo>
                  <a:lnTo>
                    <a:pt x="4175633" y="0"/>
                  </a:lnTo>
                  <a:lnTo>
                    <a:pt x="4175633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85825" y="5345982"/>
            <a:ext cx="3131753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5825" y="5810326"/>
            <a:ext cx="3131753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0.0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231891" y="5131670"/>
            <a:ext cx="3131868" cy="1971675"/>
            <a:chOff x="0" y="0"/>
            <a:chExt cx="4175824" cy="2628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75760" cy="2628900"/>
            </a:xfrm>
            <a:custGeom>
              <a:avLst/>
              <a:gdLst/>
              <a:ahLst/>
              <a:cxnLst/>
              <a:rect r="r" b="b" t="t" l="l"/>
              <a:pathLst>
                <a:path h="2628900" w="4175760">
                  <a:moveTo>
                    <a:pt x="0" y="0"/>
                  </a:moveTo>
                  <a:lnTo>
                    <a:pt x="4175760" y="0"/>
                  </a:lnTo>
                  <a:lnTo>
                    <a:pt x="4175760" y="2628900"/>
                  </a:lnTo>
                  <a:lnTo>
                    <a:pt x="0" y="2628900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231891" y="5131670"/>
            <a:ext cx="3131868" cy="42862"/>
            <a:chOff x="0" y="0"/>
            <a:chExt cx="4175824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5760" cy="57150"/>
            </a:xfrm>
            <a:custGeom>
              <a:avLst/>
              <a:gdLst/>
              <a:ahLst/>
              <a:cxnLst/>
              <a:rect r="r" b="b" t="t" l="l"/>
              <a:pathLst>
                <a:path h="57150" w="4175760">
                  <a:moveTo>
                    <a:pt x="0" y="0"/>
                  </a:moveTo>
                  <a:lnTo>
                    <a:pt x="4175760" y="0"/>
                  </a:lnTo>
                  <a:lnTo>
                    <a:pt x="417576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231891" y="5345982"/>
            <a:ext cx="3131868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31891" y="5810326"/>
            <a:ext cx="3131868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0.1 – 3.9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578071" y="5131670"/>
            <a:ext cx="3131753" cy="1971675"/>
            <a:chOff x="0" y="0"/>
            <a:chExt cx="4175671" cy="26289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75633" cy="2628900"/>
            </a:xfrm>
            <a:custGeom>
              <a:avLst/>
              <a:gdLst/>
              <a:ahLst/>
              <a:cxnLst/>
              <a:rect r="r" b="b" t="t" l="l"/>
              <a:pathLst>
                <a:path h="2628900" w="4175633">
                  <a:moveTo>
                    <a:pt x="0" y="0"/>
                  </a:moveTo>
                  <a:lnTo>
                    <a:pt x="4175633" y="0"/>
                  </a:lnTo>
                  <a:lnTo>
                    <a:pt x="4175633" y="2628900"/>
                  </a:lnTo>
                  <a:lnTo>
                    <a:pt x="0" y="2628900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78071" y="5131670"/>
            <a:ext cx="3131753" cy="42862"/>
            <a:chOff x="0" y="0"/>
            <a:chExt cx="4175671" cy="571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75633" cy="57150"/>
            </a:xfrm>
            <a:custGeom>
              <a:avLst/>
              <a:gdLst/>
              <a:ahLst/>
              <a:cxnLst/>
              <a:rect r="r" b="b" t="t" l="l"/>
              <a:pathLst>
                <a:path h="57150" w="4175633">
                  <a:moveTo>
                    <a:pt x="0" y="0"/>
                  </a:moveTo>
                  <a:lnTo>
                    <a:pt x="4175633" y="0"/>
                  </a:lnTo>
                  <a:lnTo>
                    <a:pt x="4175633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A50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578071" y="5345982"/>
            <a:ext cx="3131753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Medium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78071" y="5810326"/>
            <a:ext cx="3131753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4.0 – 6.9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924137" y="5131670"/>
            <a:ext cx="3131868" cy="1971675"/>
            <a:chOff x="0" y="0"/>
            <a:chExt cx="4175824" cy="2628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75760" cy="2628900"/>
            </a:xfrm>
            <a:custGeom>
              <a:avLst/>
              <a:gdLst/>
              <a:ahLst/>
              <a:cxnLst/>
              <a:rect r="r" b="b" t="t" l="l"/>
              <a:pathLst>
                <a:path h="2628900" w="4175760">
                  <a:moveTo>
                    <a:pt x="0" y="0"/>
                  </a:moveTo>
                  <a:lnTo>
                    <a:pt x="4175760" y="0"/>
                  </a:lnTo>
                  <a:lnTo>
                    <a:pt x="4175760" y="2628900"/>
                  </a:lnTo>
                  <a:lnTo>
                    <a:pt x="0" y="2628900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924137" y="5131670"/>
            <a:ext cx="3131868" cy="42862"/>
            <a:chOff x="0" y="0"/>
            <a:chExt cx="4175824" cy="571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75760" cy="57150"/>
            </a:xfrm>
            <a:custGeom>
              <a:avLst/>
              <a:gdLst/>
              <a:ahLst/>
              <a:cxnLst/>
              <a:rect r="r" b="b" t="t" l="l"/>
              <a:pathLst>
                <a:path h="57150" w="4175760">
                  <a:moveTo>
                    <a:pt x="0" y="0"/>
                  </a:moveTo>
                  <a:lnTo>
                    <a:pt x="4175760" y="0"/>
                  </a:lnTo>
                  <a:lnTo>
                    <a:pt x="417576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450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924137" y="5345982"/>
            <a:ext cx="3131868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High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24137" y="5810326"/>
            <a:ext cx="3131868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7.0 – 8.9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270307" y="5131670"/>
            <a:ext cx="3131753" cy="1971675"/>
            <a:chOff x="0" y="0"/>
            <a:chExt cx="4175671" cy="26289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75633" cy="2628900"/>
            </a:xfrm>
            <a:custGeom>
              <a:avLst/>
              <a:gdLst/>
              <a:ahLst/>
              <a:cxnLst/>
              <a:rect r="r" b="b" t="t" l="l"/>
              <a:pathLst>
                <a:path h="2628900" w="4175633">
                  <a:moveTo>
                    <a:pt x="0" y="0"/>
                  </a:moveTo>
                  <a:lnTo>
                    <a:pt x="4175633" y="0"/>
                  </a:lnTo>
                  <a:lnTo>
                    <a:pt x="4175633" y="2628900"/>
                  </a:lnTo>
                  <a:lnTo>
                    <a:pt x="0" y="2628900"/>
                  </a:lnTo>
                  <a:close/>
                </a:path>
              </a:pathLst>
            </a:custGeom>
            <a:solidFill>
              <a:srgbClr val="00F0FF">
                <a:alpha val="0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270307" y="5131670"/>
            <a:ext cx="3131753" cy="42862"/>
            <a:chOff x="0" y="0"/>
            <a:chExt cx="4175671" cy="571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75633" cy="57150"/>
            </a:xfrm>
            <a:custGeom>
              <a:avLst/>
              <a:gdLst/>
              <a:ahLst/>
              <a:cxnLst/>
              <a:rect r="r" b="b" t="t" l="l"/>
              <a:pathLst>
                <a:path h="57150" w="4175633">
                  <a:moveTo>
                    <a:pt x="0" y="0"/>
                  </a:moveTo>
                  <a:lnTo>
                    <a:pt x="4175633" y="0"/>
                  </a:lnTo>
                  <a:lnTo>
                    <a:pt x="4175633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270307" y="5345982"/>
            <a:ext cx="3131753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Critical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70307" y="5810326"/>
            <a:ext cx="3131753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9.0 – 10.0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85825" y="7767714"/>
            <a:ext cx="342900" cy="342900"/>
            <a:chOff x="0" y="0"/>
            <a:chExt cx="457200" cy="4572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3" r="0" b="-2083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28725" y="7739139"/>
            <a:ext cx="11378879" cy="40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Konversi temuan kerentanan ke skor numerik memberikan penilaian yang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07604" y="7729614"/>
            <a:ext cx="3315481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presisi, objektif, dan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85825" y="8209578"/>
            <a:ext cx="2725341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berbasis data riil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611166" y="8219103"/>
            <a:ext cx="6023410" cy="40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komputer, bukan opini subjek manusia.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-2700000">
            <a:off x="14355445" y="73146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true" rot="-1483901">
            <a:off x="-131020" y="-42430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-2700000">
            <a:off x="14570971" y="73146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true" flipV="true" rot="-1483901">
            <a:off x="84506" y="-42430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-2700000">
            <a:off x="14786497" y="731462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true" flipV="true" rot="-1483901">
            <a:off x="300032" y="-424302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RESEARCH ENVIRONMENT &amp; JADWAL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5825" y="3038551"/>
            <a:ext cx="457200" cy="457200"/>
            <a:chOff x="0" y="0"/>
            <a:chExt cx="609600" cy="6096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57338" y="3002832"/>
            <a:ext cx="3930406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Spesifikasi Teknis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5825" y="3826745"/>
            <a:ext cx="1714500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Hardware: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14638" y="3817220"/>
            <a:ext cx="7638012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Intel Core i7-13620H, RAM 8 GB, NVIDIA GeForce RTX 4060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5825" y="4884020"/>
            <a:ext cx="1714500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Software: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14638" y="4874495"/>
            <a:ext cx="7638012" cy="8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Windows 11, OWASP ZAP v2.14.0, Google Chrome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825" y="5941295"/>
            <a:ext cx="1714500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Metrik: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4638" y="5931770"/>
            <a:ext cx="6368205" cy="4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CVSS v3 Calculator (Official FIRST.org)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015005" y="2679363"/>
            <a:ext cx="6396314" cy="4761738"/>
            <a:chOff x="0" y="0"/>
            <a:chExt cx="8528418" cy="6348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28431" cy="6348984"/>
            </a:xfrm>
            <a:custGeom>
              <a:avLst/>
              <a:gdLst/>
              <a:ahLst/>
              <a:cxnLst/>
              <a:rect r="r" b="b" t="t" l="l"/>
              <a:pathLst>
                <a:path h="6348984" w="8528431">
                  <a:moveTo>
                    <a:pt x="0" y="0"/>
                  </a:moveTo>
                  <a:lnTo>
                    <a:pt x="8528431" y="0"/>
                  </a:lnTo>
                  <a:lnTo>
                    <a:pt x="8528431" y="6348984"/>
                  </a:lnTo>
                  <a:lnTo>
                    <a:pt x="0" y="6348984"/>
                  </a:lnTo>
                  <a:close/>
                </a:path>
              </a:pathLst>
            </a:custGeom>
            <a:solidFill>
              <a:srgbClr val="FFD700">
                <a:alpha val="0"/>
              </a:srgbClr>
            </a:solidFill>
            <a:ln w="18288" cap="sq">
              <a:solidFill>
                <a:srgbClr val="FFD70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795248" y="3838651"/>
            <a:ext cx="835819" cy="952462"/>
            <a:chOff x="0" y="0"/>
            <a:chExt cx="1114425" cy="126994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114425" cy="1270000"/>
            </a:xfrm>
            <a:custGeom>
              <a:avLst/>
              <a:gdLst/>
              <a:ahLst/>
              <a:cxnLst/>
              <a:rect r="r" b="b" t="t" l="l"/>
              <a:pathLst>
                <a:path h="1270000" w="1114425">
                  <a:moveTo>
                    <a:pt x="0" y="0"/>
                  </a:moveTo>
                  <a:lnTo>
                    <a:pt x="1114425" y="0"/>
                  </a:lnTo>
                  <a:lnTo>
                    <a:pt x="1114425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3" t="0" r="-123" b="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024149" y="5259619"/>
            <a:ext cx="6378026" cy="53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Jadwal Pelaksanaan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24149" y="5890651"/>
            <a:ext cx="6378026" cy="846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FFD700"/>
                </a:solidFill>
                <a:latin typeface="Inter Italics"/>
                <a:ea typeface="Inter Italics"/>
                <a:cs typeface="Inter Italics"/>
                <a:sym typeface="Inter Italics"/>
              </a:rPr>
              <a:t>“Sekitar 6 bulan detil kan ditentukan pada tahap pelaksanaan"</a:t>
            </a:r>
          </a:p>
        </p:txBody>
      </p:sp>
      <p:sp>
        <p:nvSpPr>
          <p:cNvPr name="Freeform 20" id="20"/>
          <p:cNvSpPr/>
          <p:nvPr/>
        </p:nvSpPr>
        <p:spPr>
          <a:xfrm flipH="true" flipV="true" rot="8208042">
            <a:off x="-2478042" y="-2140420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8208042">
            <a:off x="-2682469" y="-2072149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2"/>
                </a:moveTo>
                <a:lnTo>
                  <a:pt x="0" y="19570922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2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true" rot="8208042">
            <a:off x="-2886896" y="-2003877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2"/>
                </a:moveTo>
                <a:lnTo>
                  <a:pt x="0" y="19570922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2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-1483901">
            <a:off x="12720697" y="-5470578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true" rot="-1483901">
            <a:off x="12936223" y="-5470578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true" rot="-1483901">
            <a:off x="13151749" y="-5470578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60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60" y="0"/>
                </a:lnTo>
                <a:lnTo>
                  <a:pt x="16902160" y="19570921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MANFAAT BAGI ILMU PENGETAHUAN &amp; UMAT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5825" y="3038551"/>
            <a:ext cx="571500" cy="457200"/>
            <a:chOff x="0" y="0"/>
            <a:chExt cx="762000" cy="6096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76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71638" y="3002832"/>
            <a:ext cx="3599107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Manfaat Teoretis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5825" y="3902945"/>
            <a:ext cx="335756" cy="380962"/>
            <a:chOff x="0" y="0"/>
            <a:chExt cx="447675" cy="50794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47675" cy="508000"/>
            </a:xfrm>
            <a:custGeom>
              <a:avLst/>
              <a:gdLst/>
              <a:ahLst/>
              <a:cxnLst/>
              <a:rect r="r" b="b" t="t" l="l"/>
              <a:pathLst>
                <a:path h="508000" w="447675">
                  <a:moveTo>
                    <a:pt x="0" y="0"/>
                  </a:moveTo>
                  <a:lnTo>
                    <a:pt x="447675" y="0"/>
                  </a:lnTo>
                  <a:lnTo>
                    <a:pt x="44767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9" t="0" r="-309" b="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35894" y="3779120"/>
            <a:ext cx="7422356" cy="155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Memperluas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taksonomi ilmu keamanan komputer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pada institusi pendidikan Islam tradisional dengan tata kelola mandiri.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5825" y="5780408"/>
            <a:ext cx="378619" cy="380962"/>
            <a:chOff x="0" y="0"/>
            <a:chExt cx="504825" cy="50794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04825" cy="508000"/>
            </a:xfrm>
            <a:custGeom>
              <a:avLst/>
              <a:gdLst/>
              <a:ahLst/>
              <a:cxnLst/>
              <a:rect r="r" b="b" t="t" l="l"/>
              <a:pathLst>
                <a:path h="5080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7" r="0" b="-155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78756" y="5656583"/>
            <a:ext cx="7379494" cy="155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Membuktikan implementasi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metrik kuantitatif formal (CVSS v3)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pada domain berbasis komunitas keagamaan.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9750" y="3038551"/>
            <a:ext cx="571500" cy="457200"/>
            <a:chOff x="0" y="0"/>
            <a:chExt cx="762000" cy="6096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6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2" r="0" b="-156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15562" y="3002832"/>
            <a:ext cx="3379441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Manfaat Praktis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29750" y="3902945"/>
            <a:ext cx="478631" cy="380962"/>
            <a:chOff x="0" y="0"/>
            <a:chExt cx="638175" cy="50794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38175" cy="508000"/>
            </a:xfrm>
            <a:custGeom>
              <a:avLst/>
              <a:gdLst/>
              <a:ahLst/>
              <a:cxnLst/>
              <a:rect r="r" b="b" t="t" l="l"/>
              <a:pathLst>
                <a:path h="508000" w="638175">
                  <a:moveTo>
                    <a:pt x="0" y="0"/>
                  </a:moveTo>
                  <a:lnTo>
                    <a:pt x="638175" y="0"/>
                  </a:lnTo>
                  <a:lnTo>
                    <a:pt x="63817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08" t="0" r="-310" b="9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122694" y="3779120"/>
            <a:ext cx="7279481" cy="155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Tim IT Pesantren: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Panduan teknis untuk tindakan penambalan (patching) guna menjaga marwah institusi.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29750" y="5780408"/>
            <a:ext cx="378619" cy="380962"/>
            <a:chOff x="0" y="0"/>
            <a:chExt cx="504825" cy="507949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504825" cy="508000"/>
            </a:xfrm>
            <a:custGeom>
              <a:avLst/>
              <a:gdLst/>
              <a:ahLst/>
              <a:cxnLst/>
              <a:rect r="r" b="b" t="t" l="l"/>
              <a:pathLst>
                <a:path h="5080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67" r="0" b="-1557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022681" y="5656583"/>
            <a:ext cx="7379494" cy="155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Pengambil Kebijakan: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Data statistik riil untuk mendorong standarisasi keamanan digital umat (Kemenag/MUI).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-2700000">
            <a:off x="15978103" y="14340525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true" rot="-1483901">
            <a:off x="1491638" y="2782873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2700000">
            <a:off x="16193630" y="14340525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true" rot="-1483901">
            <a:off x="1707164" y="2782873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2700000">
            <a:off x="16409156" y="14340525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true" rot="-1483901">
            <a:off x="1922690" y="2782873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60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60" y="0"/>
                </a:lnTo>
                <a:lnTo>
                  <a:pt x="16902160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2700000">
            <a:off x="-1038459" y="710968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true" rot="-1483901">
            <a:off x="-15524924" y="-444796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700000">
            <a:off x="-822932" y="710968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true" rot="-1483901">
            <a:off x="-15309398" y="-444796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2700000">
            <a:off x="-607406" y="7109687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true" rot="-1483901">
            <a:off x="-15093872" y="-4447965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60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60" y="0"/>
                </a:lnTo>
                <a:lnTo>
                  <a:pt x="16902160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1675754">
            <a:off x="-1181037" y="-1144883"/>
            <a:ext cx="3087595" cy="3081981"/>
          </a:xfrm>
          <a:custGeom>
            <a:avLst/>
            <a:gdLst/>
            <a:ahLst/>
            <a:cxnLst/>
            <a:rect r="r" b="b" t="t" l="l"/>
            <a:pathLst>
              <a:path h="3081981" w="3087595">
                <a:moveTo>
                  <a:pt x="0" y="0"/>
                </a:moveTo>
                <a:lnTo>
                  <a:pt x="3087595" y="0"/>
                </a:lnTo>
                <a:lnTo>
                  <a:pt x="3087595" y="3081981"/>
                </a:lnTo>
                <a:lnTo>
                  <a:pt x="0" y="30819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75" y="1008497"/>
            <a:ext cx="182308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b="true" sz="4300" spc="3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MITIGASI &amp; KEMASLAHATAN UMAT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5825" y="3038551"/>
            <a:ext cx="571500" cy="457200"/>
            <a:chOff x="0" y="0"/>
            <a:chExt cx="762000" cy="6096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76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71638" y="3002832"/>
            <a:ext cx="3675678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Tim IT Pesantren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5825" y="3902945"/>
            <a:ext cx="378619" cy="380962"/>
            <a:chOff x="0" y="0"/>
            <a:chExt cx="504825" cy="50794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04825" cy="508000"/>
            </a:xfrm>
            <a:custGeom>
              <a:avLst/>
              <a:gdLst/>
              <a:ahLst/>
              <a:cxnLst/>
              <a:rect r="r" b="b" t="t" l="l"/>
              <a:pathLst>
                <a:path h="5080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9" t="0" r="-309" b="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78756" y="3779120"/>
            <a:ext cx="7379494" cy="155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Dijadikan draf teknis untuk tindakan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penambalan (patching)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celah keamanan secara mandiri.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5825" y="5708971"/>
            <a:ext cx="378619" cy="380962"/>
            <a:chOff x="0" y="0"/>
            <a:chExt cx="504825" cy="50794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04825" cy="508000"/>
            </a:xfrm>
            <a:custGeom>
              <a:avLst/>
              <a:gdLst/>
              <a:ahLst/>
              <a:cxnLst/>
              <a:rect r="r" b="b" t="t" l="l"/>
              <a:pathLst>
                <a:path h="5080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7" r="0" b="-155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78756" y="5585146"/>
            <a:ext cx="7379494" cy="155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Wujud nyata menjaga amanah perlindungan data serta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Haibah/Marwah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institusi pesantren.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9750" y="3038551"/>
            <a:ext cx="457200" cy="457200"/>
            <a:chOff x="0" y="0"/>
            <a:chExt cx="609600" cy="6096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2" r="0" b="-156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01262" y="3002832"/>
            <a:ext cx="4598794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D700"/>
                </a:solidFill>
                <a:latin typeface="Inter Bold"/>
                <a:ea typeface="Inter Bold"/>
                <a:cs typeface="Inter Bold"/>
                <a:sym typeface="Inter Bold"/>
              </a:rPr>
              <a:t>Pengambil Kebijakan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29750" y="3902945"/>
            <a:ext cx="378619" cy="380962"/>
            <a:chOff x="0" y="0"/>
            <a:chExt cx="504825" cy="50794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504825" cy="508000"/>
            </a:xfrm>
            <a:custGeom>
              <a:avLst/>
              <a:gdLst/>
              <a:ahLst/>
              <a:cxnLst/>
              <a:rect r="r" b="b" t="t" l="l"/>
              <a:pathLst>
                <a:path h="5080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09" t="0" r="-309" b="9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022681" y="3779120"/>
            <a:ext cx="7379494" cy="105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Memberikan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data statistik riil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mengenai urgensi standarisasi keamanan digital umat.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29750" y="5202212"/>
            <a:ext cx="285750" cy="380962"/>
            <a:chOff x="0" y="0"/>
            <a:chExt cx="381000" cy="507949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381000" cy="508000"/>
            </a:xfrm>
            <a:custGeom>
              <a:avLst/>
              <a:gdLst/>
              <a:ahLst/>
              <a:cxnLst/>
              <a:rect r="r" b="b" t="t" l="l"/>
              <a:pathLst>
                <a:path h="508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30" r="0" b="-61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929812" y="5078387"/>
            <a:ext cx="7472362" cy="155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Mendorong lahirnya kebijakan sistematis dalam memproteksi </a:t>
            </a:r>
            <a:r>
              <a:rPr lang="en-US" sz="2700" b="true">
                <a:solidFill>
                  <a:srgbClr val="00F0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aset digital milik umat</a:t>
            </a:r>
            <a:r>
              <a:rPr lang="en-US" sz="2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di Indonesia.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575" y="9251156"/>
            <a:ext cx="18230850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i="true">
                <a:solidFill>
                  <a:srgbClr val="FFD700"/>
                </a:solidFill>
                <a:latin typeface="Inter Italics"/>
                <a:ea typeface="Inter Italics"/>
                <a:cs typeface="Inter Italics"/>
                <a:sym typeface="Inter Italics"/>
              </a:rPr>
              <a:t>"Ikhtiar ilmiah demi kemaslahatan umat di era digital."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305242" y="-1038129"/>
            <a:ext cx="3087595" cy="3081981"/>
          </a:xfrm>
          <a:custGeom>
            <a:avLst/>
            <a:gdLst/>
            <a:ahLst/>
            <a:cxnLst/>
            <a:rect r="r" b="b" t="t" l="l"/>
            <a:pathLst>
              <a:path h="3081981" w="3087595">
                <a:moveTo>
                  <a:pt x="0" y="0"/>
                </a:moveTo>
                <a:lnTo>
                  <a:pt x="3087595" y="0"/>
                </a:lnTo>
                <a:lnTo>
                  <a:pt x="3087595" y="3081981"/>
                </a:lnTo>
                <a:lnTo>
                  <a:pt x="0" y="30819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true" rot="-1483901">
            <a:off x="1922690" y="2782873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60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60" y="0"/>
                </a:lnTo>
                <a:lnTo>
                  <a:pt x="16902160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true" rot="-1483901">
            <a:off x="2075090" y="2935273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60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60" y="0"/>
                </a:lnTo>
                <a:lnTo>
                  <a:pt x="16902160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true" rot="-1483901">
            <a:off x="2227490" y="3087673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60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60" y="0"/>
                </a:lnTo>
                <a:lnTo>
                  <a:pt x="16902160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true" rot="-1483901">
            <a:off x="-5968260" y="2782873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59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59" y="0"/>
                </a:lnTo>
                <a:lnTo>
                  <a:pt x="16902159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true" rot="-1483901">
            <a:off x="-6181768" y="2935273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16902160" y="19570921"/>
                </a:moveTo>
                <a:lnTo>
                  <a:pt x="0" y="19570921"/>
                </a:lnTo>
                <a:lnTo>
                  <a:pt x="0" y="0"/>
                </a:lnTo>
                <a:lnTo>
                  <a:pt x="16902160" y="0"/>
                </a:lnTo>
                <a:lnTo>
                  <a:pt x="16902160" y="19570921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83191" y="4381519"/>
            <a:ext cx="1521619" cy="1523962"/>
            <a:chOff x="0" y="0"/>
            <a:chExt cx="2028825" cy="2031949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028825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28825">
                  <a:moveTo>
                    <a:pt x="0" y="0"/>
                  </a:moveTo>
                  <a:lnTo>
                    <a:pt x="2028825" y="0"/>
                  </a:lnTo>
                  <a:lnTo>
                    <a:pt x="2028825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6" t="0" r="-76" b="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00250" y="1658798"/>
            <a:ext cx="14287500" cy="92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b="true" sz="5700" spc="4">
                <a:solidFill>
                  <a:srgbClr val="00F0FF"/>
                </a:solidFill>
                <a:latin typeface="Inter Bold"/>
                <a:ea typeface="Inter Bold"/>
                <a:cs typeface="Inter Bold"/>
                <a:sym typeface="Inter Bold"/>
              </a:rPr>
              <a:t>KESIMPULAN &amp; PENUTUP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0250" y="3342342"/>
            <a:ext cx="14287500" cy="143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0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Evaluasi keamanan siber berbasis </a:t>
            </a:r>
            <a:r>
              <a:rPr lang="en-US" sz="3099" b="true">
                <a:solidFill>
                  <a:srgbClr val="FFD700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data numerik riil</a:t>
            </a:r>
            <a:r>
              <a:rPr lang="en-US" sz="30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untuk objektivitas tinggi.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0250" y="4897898"/>
            <a:ext cx="14287500" cy="76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0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Landasan utama bagi </a:t>
            </a:r>
            <a:r>
              <a:rPr lang="en-US" sz="3099" b="true">
                <a:solidFill>
                  <a:srgbClr val="FFD700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mitigasi dini</a:t>
            </a:r>
            <a:r>
              <a:rPr lang="en-US" sz="3099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sebelum eksploitasi oleh pihak luar.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0250" y="6633286"/>
            <a:ext cx="14287500" cy="62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i="true">
                <a:solidFill>
                  <a:srgbClr val="FFD700"/>
                </a:solidFill>
                <a:latin typeface="Inter Italics"/>
                <a:ea typeface="Inter Italics"/>
                <a:cs typeface="Inter Italics"/>
                <a:sym typeface="Inter Italics"/>
              </a:rPr>
              <a:t>"Menjaga haibah institusi pesantren di era digital adalah bagian dari amanah ilmiah."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23062" y="9422284"/>
            <a:ext cx="64418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F0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Lukman Nur Rahman | STMIK Tazkia | 2025/2026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16098">
            <a:off x="1327669" y="-5634882"/>
            <a:ext cx="16902159" cy="19570921"/>
          </a:xfrm>
          <a:custGeom>
            <a:avLst/>
            <a:gdLst/>
            <a:ahLst/>
            <a:cxnLst/>
            <a:rect r="r" b="b" t="t" l="l"/>
            <a:pathLst>
              <a:path h="19570921" w="16902159">
                <a:moveTo>
                  <a:pt x="0" y="0"/>
                </a:moveTo>
                <a:lnTo>
                  <a:pt x="16902160" y="0"/>
                </a:lnTo>
                <a:lnTo>
                  <a:pt x="16902160" y="19570921"/>
                </a:lnTo>
                <a:lnTo>
                  <a:pt x="0" y="19570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91908" y="-939718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6" y="0"/>
                </a:lnTo>
                <a:lnTo>
                  <a:pt x="5241216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60987" y="8606111"/>
            <a:ext cx="5241215" cy="5241215"/>
          </a:xfrm>
          <a:custGeom>
            <a:avLst/>
            <a:gdLst/>
            <a:ahLst/>
            <a:cxnLst/>
            <a:rect r="r" b="b" t="t" l="l"/>
            <a:pathLst>
              <a:path h="5241215" w="5241215">
                <a:moveTo>
                  <a:pt x="0" y="0"/>
                </a:moveTo>
                <a:lnTo>
                  <a:pt x="5241215" y="0"/>
                </a:lnTo>
                <a:lnTo>
                  <a:pt x="5241215" y="5241215"/>
                </a:lnTo>
                <a:lnTo>
                  <a:pt x="0" y="5241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277216" y="6748225"/>
            <a:ext cx="6381567" cy="997845"/>
          </a:xfrm>
          <a:custGeom>
            <a:avLst/>
            <a:gdLst/>
            <a:ahLst/>
            <a:cxnLst/>
            <a:rect r="r" b="b" t="t" l="l"/>
            <a:pathLst>
              <a:path h="997845" w="6381567">
                <a:moveTo>
                  <a:pt x="6381567" y="0"/>
                </a:moveTo>
                <a:lnTo>
                  <a:pt x="0" y="0"/>
                </a:lnTo>
                <a:lnTo>
                  <a:pt x="0" y="997844"/>
                </a:lnTo>
                <a:lnTo>
                  <a:pt x="6381567" y="997844"/>
                </a:lnTo>
                <a:lnTo>
                  <a:pt x="638156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778749" y="2079720"/>
            <a:ext cx="7315200" cy="1742348"/>
          </a:xfrm>
          <a:custGeom>
            <a:avLst/>
            <a:gdLst/>
            <a:ahLst/>
            <a:cxnLst/>
            <a:rect r="r" b="b" t="t" l="l"/>
            <a:pathLst>
              <a:path h="1742348" w="7315200">
                <a:moveTo>
                  <a:pt x="7315200" y="0"/>
                </a:moveTo>
                <a:lnTo>
                  <a:pt x="0" y="0"/>
                </a:lnTo>
                <a:lnTo>
                  <a:pt x="0" y="1742348"/>
                </a:lnTo>
                <a:lnTo>
                  <a:pt x="7315200" y="174234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1069" y="3220801"/>
            <a:ext cx="15325862" cy="3845398"/>
          </a:xfrm>
          <a:custGeom>
            <a:avLst/>
            <a:gdLst/>
            <a:ahLst/>
            <a:cxnLst/>
            <a:rect r="r" b="b" t="t" l="l"/>
            <a:pathLst>
              <a:path h="3845398" w="15325862">
                <a:moveTo>
                  <a:pt x="0" y="0"/>
                </a:moveTo>
                <a:lnTo>
                  <a:pt x="15325862" y="0"/>
                </a:lnTo>
                <a:lnTo>
                  <a:pt x="15325862" y="3845398"/>
                </a:lnTo>
                <a:lnTo>
                  <a:pt x="0" y="3845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85747" y="4433736"/>
            <a:ext cx="8916506" cy="145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11"/>
              </a:lnSpc>
            </a:pPr>
            <a:r>
              <a:rPr lang="en-US" sz="12275" b="true">
                <a:solidFill>
                  <a:srgbClr val="77EA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Thank You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79947" y="2290178"/>
            <a:ext cx="3069360" cy="3063780"/>
          </a:xfrm>
          <a:custGeom>
            <a:avLst/>
            <a:gdLst/>
            <a:ahLst/>
            <a:cxnLst/>
            <a:rect r="r" b="b" t="t" l="l"/>
            <a:pathLst>
              <a:path h="3063780" w="3069360">
                <a:moveTo>
                  <a:pt x="0" y="0"/>
                </a:moveTo>
                <a:lnTo>
                  <a:pt x="3069361" y="0"/>
                </a:lnTo>
                <a:lnTo>
                  <a:pt x="3069361" y="3063780"/>
                </a:lnTo>
                <a:lnTo>
                  <a:pt x="0" y="30637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79133" y="7247147"/>
            <a:ext cx="1514985" cy="1512231"/>
          </a:xfrm>
          <a:custGeom>
            <a:avLst/>
            <a:gdLst/>
            <a:ahLst/>
            <a:cxnLst/>
            <a:rect r="r" b="b" t="t" l="l"/>
            <a:pathLst>
              <a:path h="1512231" w="1514985">
                <a:moveTo>
                  <a:pt x="0" y="0"/>
                </a:moveTo>
                <a:lnTo>
                  <a:pt x="1514985" y="0"/>
                </a:lnTo>
                <a:lnTo>
                  <a:pt x="1514985" y="1512231"/>
                </a:lnTo>
                <a:lnTo>
                  <a:pt x="0" y="15122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23062" y="9422284"/>
            <a:ext cx="64418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F0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Lukman Nur Rahman | STMIK Tazkia |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DAHQ8_G7Teg</dc:identifier>
  <dcterms:modified xsi:type="dcterms:W3CDTF">2011-08-01T06:04:30Z</dcterms:modified>
  <cp:revision>1</cp:revision>
  <dc:title>Tugas UAS Metlit Lukman</dc:title>
</cp:coreProperties>
</file>